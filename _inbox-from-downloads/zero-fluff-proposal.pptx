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88952" cy="6858000"/>
  <p:notesSz cx="6858000" cy="12188952"/>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image" Target="../media/image-5-10.png"/><Relationship Id="rId11" Type="http://schemas.openxmlformats.org/officeDocument/2006/relationships/image" Target="../media/image-5-11.png"/><Relationship Id="rId12" Type="http://schemas.openxmlformats.org/officeDocument/2006/relationships/image" Target="../media/image-5-12.png"/><Relationship Id="rId13" Type="http://schemas.openxmlformats.org/officeDocument/2006/relationships/slideLayout" Target="../slideLayouts/slideLayout1.xml"/><Relationship Id="rId1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1C21"/>
        </a:solidFill>
      </p:bgPr>
    </p:bg>
    <p:spTree>
      <p:nvGrpSpPr>
        <p:cNvPr id="1" name=""/>
        <p:cNvGrpSpPr/>
        <p:nvPr/>
      </p:nvGrpSpPr>
      <p:grpSpPr>
        <a:xfrm>
          <a:off x="0" y="0"/>
          <a:ext cx="0" cy="0"/>
          <a:chOff x="0" y="0"/>
          <a:chExt cx="0" cy="0"/>
        </a:xfrm>
      </p:grpSpPr>
      <p:sp>
        <p:nvSpPr>
          <p:cNvPr id="2" name="Text 0"/>
          <p:cNvSpPr/>
          <p:nvPr/>
        </p:nvSpPr>
        <p:spPr>
          <a:xfrm>
            <a:off x="457200" y="6455664"/>
            <a:ext cx="8229600" cy="292608"/>
          </a:xfrm>
          <a:prstGeom prst="rect">
            <a:avLst/>
          </a:prstGeom>
          <a:noFill/>
          <a:ln/>
        </p:spPr>
        <p:txBody>
          <a:bodyPr wrap="square" rtlCol="0" anchor="ctr"/>
          <a:lstStyle/>
          <a:p>
            <a:pPr indent="0" marL="0">
              <a:buNone/>
            </a:pPr>
            <a:r>
              <a:rPr lang="en-US" sz="850" dirty="0">
                <a:solidFill>
                  <a:srgbClr val="FFFFFF">
                    <a:alpha val="45000"/>
                  </a:srgbClr>
                </a:solidFill>
              </a:rPr>
              <a:t>7 July 2026 · Zero Fluff Proposal</a:t>
            </a:r>
            <a:endParaRPr lang="en-US" sz="850" dirty="0"/>
          </a:p>
        </p:txBody>
      </p:sp>
      <p:sp>
        <p:nvSpPr>
          <p:cNvPr id="3" name="Text 1"/>
          <p:cNvSpPr/>
          <p:nvPr/>
        </p:nvSpPr>
        <p:spPr>
          <a:xfrm>
            <a:off x="9875520" y="6455664"/>
            <a:ext cx="1828800" cy="292608"/>
          </a:xfrm>
          <a:prstGeom prst="rect">
            <a:avLst/>
          </a:prstGeom>
          <a:noFill/>
          <a:ln/>
        </p:spPr>
        <p:txBody>
          <a:bodyPr wrap="square" rtlCol="0" anchor="ctr"/>
          <a:lstStyle/>
          <a:p>
            <a:pPr algn="r" indent="0" marL="0">
              <a:buNone/>
            </a:pPr>
            <a:r>
              <a:rPr lang="en-US" sz="850" b="1" dirty="0">
                <a:solidFill>
                  <a:srgbClr val="FFFFFF">
                    <a:alpha val="60000"/>
                  </a:srgbClr>
                </a:solidFill>
              </a:rPr>
              <a:t>Chalk &amp; Ward</a:t>
            </a:r>
            <a:endParaRPr lang="en-US" sz="850" dirty="0"/>
          </a:p>
        </p:txBody>
      </p:sp>
      <p:sp>
        <p:nvSpPr>
          <p:cNvPr id="4" name="Text 2"/>
          <p:cNvSpPr/>
          <p:nvPr/>
        </p:nvSpPr>
        <p:spPr>
          <a:xfrm>
            <a:off x="731520" y="1280160"/>
            <a:ext cx="9141714" cy="0"/>
          </a:xfrm>
          <a:prstGeom prst="rect">
            <a:avLst/>
          </a:prstGeom>
          <a:noFill/>
          <a:ln/>
        </p:spPr>
        <p:txBody>
          <a:bodyPr wrap="square" rtlCol="0" anchor="ctr"/>
          <a:lstStyle/>
          <a:p>
            <a:pPr indent="0" marL="0">
              <a:buNone/>
            </a:pPr>
            <a:r>
              <a:rPr lang="en-US" sz="1300" b="1" spc="600" kern="0" dirty="0">
                <a:solidFill>
                  <a:srgbClr val="D6E865"/>
                </a:solidFill>
              </a:rPr>
              <a:t>CHALK &amp; WARD</a:t>
            </a:r>
            <a:endParaRPr lang="en-US" sz="1300" dirty="0"/>
          </a:p>
        </p:txBody>
      </p:sp>
      <p:sp>
        <p:nvSpPr>
          <p:cNvPr id="5" name="Text 3"/>
          <p:cNvSpPr/>
          <p:nvPr/>
        </p:nvSpPr>
        <p:spPr>
          <a:xfrm>
            <a:off x="731520" y="2103120"/>
            <a:ext cx="10698480" cy="1463040"/>
          </a:xfrm>
          <a:prstGeom prst="rect">
            <a:avLst/>
          </a:prstGeom>
          <a:noFill/>
          <a:ln/>
        </p:spPr>
        <p:txBody>
          <a:bodyPr wrap="square" rtlCol="0" anchor="ctr"/>
          <a:lstStyle/>
          <a:p>
            <a:pPr indent="0" marL="0">
              <a:buNone/>
            </a:pPr>
            <a:r>
              <a:rPr lang="en-US" sz="4600" b="1" dirty="0">
                <a:solidFill>
                  <a:srgbClr val="FFFFFF"/>
                </a:solidFill>
              </a:rPr>
              <a:t>Zero Fluff</a:t>
            </a:r>
            <a:endParaRPr lang="en-US" sz="4600" dirty="0"/>
          </a:p>
        </p:txBody>
      </p:sp>
      <p:sp>
        <p:nvSpPr>
          <p:cNvPr id="6" name="Text 4"/>
          <p:cNvSpPr/>
          <p:nvPr/>
        </p:nvSpPr>
        <p:spPr>
          <a:xfrm>
            <a:off x="731520" y="3566160"/>
            <a:ext cx="9144000" cy="548640"/>
          </a:xfrm>
          <a:prstGeom prst="rect">
            <a:avLst/>
          </a:prstGeom>
          <a:noFill/>
          <a:ln/>
        </p:spPr>
        <p:txBody>
          <a:bodyPr wrap="square" rtlCol="0" anchor="ctr"/>
          <a:lstStyle/>
          <a:p>
            <a:pPr indent="0" marL="0">
              <a:buNone/>
            </a:pPr>
            <a:r>
              <a:rPr lang="en-US" sz="1800" dirty="0">
                <a:solidFill>
                  <a:srgbClr val="FFFFFF">
                    <a:alpha val="70000"/>
                  </a:srgbClr>
                </a:solidFill>
              </a:rPr>
              <a:t>One inbound call a week — let's build toward it</a:t>
            </a:r>
            <a:endParaRPr lang="en-US" sz="1800" dirty="0"/>
          </a:p>
        </p:txBody>
      </p:sp>
      <p:sp>
        <p:nvSpPr>
          <p:cNvPr id="7" name="Text 5"/>
          <p:cNvSpPr/>
          <p:nvPr/>
        </p:nvSpPr>
        <p:spPr>
          <a:xfrm>
            <a:off x="731520" y="5120640"/>
            <a:ext cx="9141714" cy="0"/>
          </a:xfrm>
          <a:prstGeom prst="rect">
            <a:avLst/>
          </a:prstGeom>
          <a:noFill/>
          <a:ln/>
        </p:spPr>
        <p:txBody>
          <a:bodyPr wrap="square" rtlCol="0" anchor="ctr"/>
          <a:lstStyle/>
          <a:p>
            <a:pPr indent="0" marL="0">
              <a:buNone/>
            </a:pPr>
            <a:r>
              <a:rPr lang="en-US" sz="1100" dirty="0">
                <a:solidFill>
                  <a:srgbClr val="FFFFFF">
                    <a:alpha val="45000"/>
                  </a:srgbClr>
                </a:solidFill>
              </a:rPr>
              <a:t>7 July 2026 · Confidential</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61C21"/>
        </a:solidFill>
      </p:bgPr>
    </p:bg>
    <p:spTree>
      <p:nvGrpSpPr>
        <p:cNvPr id="1" name=""/>
        <p:cNvGrpSpPr/>
        <p:nvPr/>
      </p:nvGrpSpPr>
      <p:grpSpPr>
        <a:xfrm>
          <a:off x="0" y="0"/>
          <a:ext cx="0" cy="0"/>
          <a:chOff x="0" y="0"/>
          <a:chExt cx="0" cy="0"/>
        </a:xfrm>
      </p:grpSpPr>
      <p:sp>
        <p:nvSpPr>
          <p:cNvPr id="2" name="Text 0"/>
          <p:cNvSpPr/>
          <p:nvPr/>
        </p:nvSpPr>
        <p:spPr>
          <a:xfrm>
            <a:off x="457200" y="6455664"/>
            <a:ext cx="8229600" cy="292608"/>
          </a:xfrm>
          <a:prstGeom prst="rect">
            <a:avLst/>
          </a:prstGeom>
          <a:noFill/>
          <a:ln/>
        </p:spPr>
        <p:txBody>
          <a:bodyPr wrap="square" rtlCol="0" anchor="ctr"/>
          <a:lstStyle/>
          <a:p>
            <a:pPr indent="0" marL="0">
              <a:buNone/>
            </a:pPr>
            <a:r>
              <a:rPr lang="en-US" sz="850" dirty="0">
                <a:solidFill>
                  <a:srgbClr val="FFFFFF">
                    <a:alpha val="45000"/>
                  </a:srgbClr>
                </a:solidFill>
              </a:rPr>
              <a:t>7 July 2026 · Zero Fluff Proposal</a:t>
            </a:r>
            <a:endParaRPr lang="en-US" sz="850" dirty="0"/>
          </a:p>
        </p:txBody>
      </p:sp>
      <p:sp>
        <p:nvSpPr>
          <p:cNvPr id="3" name="Text 1"/>
          <p:cNvSpPr/>
          <p:nvPr/>
        </p:nvSpPr>
        <p:spPr>
          <a:xfrm>
            <a:off x="9875520" y="6455664"/>
            <a:ext cx="1828800" cy="292608"/>
          </a:xfrm>
          <a:prstGeom prst="rect">
            <a:avLst/>
          </a:prstGeom>
          <a:noFill/>
          <a:ln/>
        </p:spPr>
        <p:txBody>
          <a:bodyPr wrap="square" rtlCol="0" anchor="ctr"/>
          <a:lstStyle/>
          <a:p>
            <a:pPr algn="r" indent="0" marL="0">
              <a:buNone/>
            </a:pPr>
            <a:r>
              <a:rPr lang="en-US" sz="850" b="1" dirty="0">
                <a:solidFill>
                  <a:srgbClr val="FFFFFF">
                    <a:alpha val="60000"/>
                  </a:srgbClr>
                </a:solidFill>
              </a:rPr>
              <a:t>Chalk &amp; Ward</a:t>
            </a:r>
            <a:endParaRPr lang="en-US" sz="850" dirty="0"/>
          </a:p>
        </p:txBody>
      </p:sp>
      <p:sp>
        <p:nvSpPr>
          <p:cNvPr id="4" name="Text 2"/>
          <p:cNvSpPr/>
          <p:nvPr/>
        </p:nvSpPr>
        <p:spPr>
          <a:xfrm>
            <a:off x="731520" y="411480"/>
            <a:ext cx="10058400" cy="320040"/>
          </a:xfrm>
          <a:prstGeom prst="rect">
            <a:avLst/>
          </a:prstGeom>
          <a:noFill/>
          <a:ln/>
        </p:spPr>
        <p:txBody>
          <a:bodyPr wrap="square" rtlCol="0" anchor="ctr"/>
          <a:lstStyle/>
          <a:p>
            <a:pPr indent="0" marL="0">
              <a:buNone/>
            </a:pPr>
            <a:r>
              <a:rPr lang="en-US" sz="1100" b="1" spc="400" kern="0" dirty="0">
                <a:solidFill>
                  <a:srgbClr val="D6E865"/>
                </a:solidFill>
              </a:rPr>
              <a:t>THANK YOU FOR YOUR ENQUIRY</a:t>
            </a:r>
            <a:endParaRPr lang="en-US" sz="1100" dirty="0"/>
          </a:p>
        </p:txBody>
      </p:sp>
      <p:sp>
        <p:nvSpPr>
          <p:cNvPr id="5" name="Text 3"/>
          <p:cNvSpPr/>
          <p:nvPr/>
        </p:nvSpPr>
        <p:spPr>
          <a:xfrm>
            <a:off x="731520" y="777240"/>
            <a:ext cx="10698480" cy="640080"/>
          </a:xfrm>
          <a:prstGeom prst="rect">
            <a:avLst/>
          </a:prstGeom>
          <a:noFill/>
          <a:ln/>
        </p:spPr>
        <p:txBody>
          <a:bodyPr wrap="square" rtlCol="0" anchor="ctr"/>
          <a:lstStyle/>
          <a:p>
            <a:pPr indent="0" marL="0">
              <a:buNone/>
            </a:pPr>
            <a:r>
              <a:rPr lang="en-US" sz="2600" b="1" dirty="0">
                <a:solidFill>
                  <a:srgbClr val="FFFFFF"/>
                </a:solidFill>
              </a:rPr>
              <a:t>Our understanding of your requirements</a:t>
            </a:r>
            <a:endParaRPr lang="en-US" sz="2600" dirty="0"/>
          </a:p>
        </p:txBody>
      </p:sp>
      <p:sp>
        <p:nvSpPr>
          <p:cNvPr id="6" name="Text 4"/>
          <p:cNvSpPr/>
          <p:nvPr/>
        </p:nvSpPr>
        <p:spPr>
          <a:xfrm>
            <a:off x="731520" y="1645920"/>
            <a:ext cx="5577840" cy="2743200"/>
          </a:xfrm>
          <a:prstGeom prst="rect">
            <a:avLst/>
          </a:prstGeom>
          <a:noFill/>
          <a:ln/>
        </p:spPr>
        <p:txBody>
          <a:bodyPr wrap="square" rtlCol="0" anchor="t"/>
          <a:lstStyle/>
          <a:p>
            <a:pPr indent="0" marL="0">
              <a:buNone/>
            </a:pPr>
            <a:r>
              <a:rPr lang="en-US" sz="1200" dirty="0">
                <a:solidFill>
                  <a:srgbClr val="FFFFFF"/>
                </a:solidFill>
              </a:rPr>
              <a:t>Thank you for getting in touch with us — we really enjoyed learning about Zero Fluff. You're a small, focused AI company based in Totnes, Devon, run by two people who clearly know their subject well and are doing something genuinely interesting in a crowded space. You haven't done any formal marketing before, which means there's no tangled history to unpick — just a clean opportunity to get this right from the start. With a budget of around £5,000, you're not looking to overhaul the world; you're looking for something targeted and purposeful that starts generating real commercial results.</a:t>
            </a:r>
            <a:endParaRPr lang="en-US" sz="1200" dirty="0"/>
          </a:p>
        </p:txBody>
      </p:sp>
      <p:sp>
        <p:nvSpPr>
          <p:cNvPr id="7" name="Text 5"/>
          <p:cNvSpPr/>
          <p:nvPr/>
        </p:nvSpPr>
        <p:spPr>
          <a:xfrm>
            <a:off x="731520" y="4297680"/>
            <a:ext cx="5577840" cy="1737360"/>
          </a:xfrm>
          <a:prstGeom prst="rect">
            <a:avLst/>
          </a:prstGeom>
          <a:noFill/>
          <a:ln/>
        </p:spPr>
        <p:txBody>
          <a:bodyPr wrap="square" rtlCol="0" anchor="t"/>
          <a:lstStyle/>
          <a:p>
            <a:pPr indent="0" marL="0">
              <a:buNone/>
            </a:pPr>
            <a:r>
              <a:rPr lang="en-US" sz="1200" dirty="0">
                <a:solidFill>
                  <a:srgbClr val="FFFFFF">
                    <a:alpha val="85000"/>
                  </a:srgbClr>
                </a:solidFill>
              </a:rPr>
              <a:t>What you want is straightforward, and we respect that: at least one inbound call per week from your website, from someone who has found you through search and is already warm enough to pick up the phone. That's not a vanity metric — it's a real business outcome that would represent a meaningful change in how Zero Fluff grows. The reason now makes sense is equally clear: you've reached the point where organic word-of-mouth alone won't scale a business, and search is the most logical place for an AI company to be found by the clients who need it most.</a:t>
            </a:r>
            <a:endParaRPr lang="en-US" sz="1200" dirty="0"/>
          </a:p>
        </p:txBody>
      </p:sp>
      <p:sp>
        <p:nvSpPr>
          <p:cNvPr id="8" name="Text 6"/>
          <p:cNvSpPr/>
          <p:nvPr/>
        </p:nvSpPr>
        <p:spPr>
          <a:xfrm>
            <a:off x="6675120" y="1645920"/>
            <a:ext cx="4754880" cy="365760"/>
          </a:xfrm>
          <a:prstGeom prst="rect">
            <a:avLst/>
          </a:prstGeom>
          <a:noFill/>
          <a:ln/>
        </p:spPr>
        <p:txBody>
          <a:bodyPr wrap="square" rtlCol="0" anchor="ctr"/>
          <a:lstStyle/>
          <a:p>
            <a:pPr indent="0" marL="0">
              <a:buNone/>
            </a:pPr>
            <a:r>
              <a:rPr lang="en-US" sz="1200" b="1" dirty="0">
                <a:solidFill>
                  <a:srgbClr val="D6E865"/>
                </a:solidFill>
              </a:rPr>
              <a:t>What you told us</a:t>
            </a:r>
            <a:endParaRPr lang="en-US" sz="1200" dirty="0"/>
          </a:p>
        </p:txBody>
      </p:sp>
      <p:sp>
        <p:nvSpPr>
          <p:cNvPr id="9" name="Text 7"/>
          <p:cNvSpPr/>
          <p:nvPr/>
        </p:nvSpPr>
        <p:spPr>
          <a:xfrm>
            <a:off x="6675120" y="2103120"/>
            <a:ext cx="4754880" cy="3840480"/>
          </a:xfrm>
          <a:prstGeom prst="rect">
            <a:avLst/>
          </a:prstGeom>
          <a:noFill/>
          <a:ln/>
        </p:spPr>
        <p:txBody>
          <a:bodyPr wrap="square" rtlCol="0" anchor="t"/>
          <a:lstStyle/>
          <a:p>
            <a:pPr marL="177800" indent="-177800">
              <a:spcAft>
                <a:spcPts val="800"/>
              </a:spcAft>
              <a:buSzPct val="100000"/>
              <a:buChar char="→"/>
            </a:pPr>
            <a:r>
              <a:rPr lang="en-US" sz="1150" dirty="0">
                <a:solidFill>
                  <a:srgbClr val="FFFFFF"/>
                </a:solidFill>
              </a:rPr>
              <a:t>You're not showing up on Google when potential clients search for what you do — and you know that's costing you enquiries you should be winning.</a:t>
            </a:r>
            <a:endParaRPr lang="en-US" sz="1150" dirty="0"/>
          </a:p>
          <a:p>
            <a:pPr marL="177800" indent="-177800">
              <a:spcAft>
                <a:spcPts val="800"/>
              </a:spcAft>
              <a:buSzPct val="100000"/>
              <a:buChar char="→"/>
            </a:pPr>
            <a:r>
              <a:rPr lang="en-US" sz="1150" dirty="0">
                <a:solidFill>
                  <a:srgbClr val="FFFFFF"/>
                </a:solidFill>
              </a:rPr>
              <a:t>You have no inbound pipeline at all right now; every piece of new business relies on you going out and finding it rather than it finding you.</a:t>
            </a:r>
            <a:endParaRPr lang="en-US" sz="1150" dirty="0"/>
          </a:p>
          <a:p>
            <a:pPr marL="177800" indent="-177800">
              <a:spcAft>
                <a:spcPts val="800"/>
              </a:spcAft>
              <a:buSzPct val="100000"/>
              <a:buChar char="→"/>
            </a:pPr>
            <a:r>
              <a:rPr lang="en-US" sz="1150" dirty="0">
                <a:solidFill>
                  <a:srgbClr val="FFFFFF"/>
                </a:solidFill>
              </a:rPr>
              <a:t>You're a tiny team, so you can't afford to invest time or money in something that doesn't have a clear, measurable outcome.</a:t>
            </a:r>
            <a:endParaRPr lang="en-US" sz="1150" dirty="0"/>
          </a:p>
        </p:txBody>
      </p:sp>
      <p:sp>
        <p:nvSpPr>
          <p:cNvPr id="10" name="Text 8"/>
          <p:cNvSpPr/>
          <p:nvPr/>
        </p:nvSpPr>
        <p:spPr>
          <a:xfrm>
            <a:off x="731520" y="5943600"/>
            <a:ext cx="10698480" cy="365760"/>
          </a:xfrm>
          <a:prstGeom prst="rect">
            <a:avLst/>
          </a:prstGeom>
          <a:noFill/>
          <a:ln/>
        </p:spPr>
        <p:txBody>
          <a:bodyPr wrap="square" rtlCol="0" anchor="ctr"/>
          <a:lstStyle/>
          <a:p>
            <a:pPr indent="0" marL="0">
              <a:buNone/>
            </a:pPr>
            <a:r>
              <a:rPr lang="en-US" sz="1100" i="1" dirty="0">
                <a:solidFill>
                  <a:srgbClr val="D6E865"/>
                </a:solidFill>
              </a:rPr>
              <a:t>This is our understanding of your requirements — if we've got anything wrong or missed something important, please tell us and we'll adjust our thinking accordingly.</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61C21"/>
        </a:solidFill>
      </p:bgPr>
    </p:bg>
    <p:spTree>
      <p:nvGrpSpPr>
        <p:cNvPr id="1" name=""/>
        <p:cNvGrpSpPr/>
        <p:nvPr/>
      </p:nvGrpSpPr>
      <p:grpSpPr>
        <a:xfrm>
          <a:off x="0" y="0"/>
          <a:ext cx="0" cy="0"/>
          <a:chOff x="0" y="0"/>
          <a:chExt cx="0" cy="0"/>
        </a:xfrm>
      </p:grpSpPr>
      <p:sp>
        <p:nvSpPr>
          <p:cNvPr id="2" name="Text 0"/>
          <p:cNvSpPr/>
          <p:nvPr/>
        </p:nvSpPr>
        <p:spPr>
          <a:xfrm>
            <a:off x="457200" y="6455664"/>
            <a:ext cx="8229600" cy="292608"/>
          </a:xfrm>
          <a:prstGeom prst="rect">
            <a:avLst/>
          </a:prstGeom>
          <a:noFill/>
          <a:ln/>
        </p:spPr>
        <p:txBody>
          <a:bodyPr wrap="square" rtlCol="0" anchor="ctr"/>
          <a:lstStyle/>
          <a:p>
            <a:pPr indent="0" marL="0">
              <a:buNone/>
            </a:pPr>
            <a:r>
              <a:rPr lang="en-US" sz="850" dirty="0">
                <a:solidFill>
                  <a:srgbClr val="FFFFFF">
                    <a:alpha val="45000"/>
                  </a:srgbClr>
                </a:solidFill>
              </a:rPr>
              <a:t>7 July 2026 · Zero Fluff Proposal</a:t>
            </a:r>
            <a:endParaRPr lang="en-US" sz="850" dirty="0"/>
          </a:p>
        </p:txBody>
      </p:sp>
      <p:sp>
        <p:nvSpPr>
          <p:cNvPr id="3" name="Text 1"/>
          <p:cNvSpPr/>
          <p:nvPr/>
        </p:nvSpPr>
        <p:spPr>
          <a:xfrm>
            <a:off x="9875520" y="6455664"/>
            <a:ext cx="1828800" cy="292608"/>
          </a:xfrm>
          <a:prstGeom prst="rect">
            <a:avLst/>
          </a:prstGeom>
          <a:noFill/>
          <a:ln/>
        </p:spPr>
        <p:txBody>
          <a:bodyPr wrap="square" rtlCol="0" anchor="ctr"/>
          <a:lstStyle/>
          <a:p>
            <a:pPr algn="r" indent="0" marL="0">
              <a:buNone/>
            </a:pPr>
            <a:r>
              <a:rPr lang="en-US" sz="850" b="1" dirty="0">
                <a:solidFill>
                  <a:srgbClr val="FFFFFF">
                    <a:alpha val="60000"/>
                  </a:srgbClr>
                </a:solidFill>
              </a:rPr>
              <a:t>Chalk &amp; Ward</a:t>
            </a:r>
            <a:endParaRPr lang="en-US" sz="850" dirty="0"/>
          </a:p>
        </p:txBody>
      </p:sp>
      <p:sp>
        <p:nvSpPr>
          <p:cNvPr id="4" name="Text 2"/>
          <p:cNvSpPr/>
          <p:nvPr/>
        </p:nvSpPr>
        <p:spPr>
          <a:xfrm>
            <a:off x="731520" y="1920240"/>
            <a:ext cx="2743200" cy="1371600"/>
          </a:xfrm>
          <a:prstGeom prst="rect">
            <a:avLst/>
          </a:prstGeom>
          <a:noFill/>
          <a:ln/>
        </p:spPr>
        <p:txBody>
          <a:bodyPr wrap="square" rtlCol="0" anchor="ctr"/>
          <a:lstStyle/>
          <a:p>
            <a:pPr indent="0" marL="0">
              <a:buNone/>
            </a:pPr>
            <a:r>
              <a:rPr lang="en-US" sz="8000" b="1" dirty="0">
                <a:solidFill>
                  <a:srgbClr val="D6E865"/>
                </a:solidFill>
              </a:rPr>
              <a:t>01</a:t>
            </a:r>
            <a:endParaRPr lang="en-US" sz="8000" dirty="0"/>
          </a:p>
        </p:txBody>
      </p:sp>
      <p:sp>
        <p:nvSpPr>
          <p:cNvPr id="5" name="Text 3"/>
          <p:cNvSpPr/>
          <p:nvPr/>
        </p:nvSpPr>
        <p:spPr>
          <a:xfrm>
            <a:off x="777240" y="3383280"/>
            <a:ext cx="10058400" cy="914400"/>
          </a:xfrm>
          <a:prstGeom prst="rect">
            <a:avLst/>
          </a:prstGeom>
          <a:noFill/>
          <a:ln/>
        </p:spPr>
        <p:txBody>
          <a:bodyPr wrap="square" rtlCol="0" anchor="ctr"/>
          <a:lstStyle/>
          <a:p>
            <a:pPr indent="0" marL="0">
              <a:buNone/>
            </a:pPr>
            <a:r>
              <a:rPr lang="en-US" sz="3400" b="1" dirty="0">
                <a:solidFill>
                  <a:srgbClr val="FFFFFF"/>
                </a:solidFill>
              </a:rPr>
              <a:t>Introducing Chalk &amp; Ward</a:t>
            </a:r>
            <a:endParaRPr lang="en-US" sz="3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61C21"/>
        </a:solidFill>
      </p:bgPr>
    </p:bg>
    <p:spTree>
      <p:nvGrpSpPr>
        <p:cNvPr id="1" name=""/>
        <p:cNvGrpSpPr/>
        <p:nvPr/>
      </p:nvGrpSpPr>
      <p:grpSpPr>
        <a:xfrm>
          <a:off x="0" y="0"/>
          <a:ext cx="0" cy="0"/>
          <a:chOff x="0" y="0"/>
          <a:chExt cx="0" cy="0"/>
        </a:xfrm>
      </p:grpSpPr>
      <p:sp>
        <p:nvSpPr>
          <p:cNvPr id="2" name="Text 0"/>
          <p:cNvSpPr/>
          <p:nvPr/>
        </p:nvSpPr>
        <p:spPr>
          <a:xfrm>
            <a:off x="457200" y="6455664"/>
            <a:ext cx="8229600" cy="292608"/>
          </a:xfrm>
          <a:prstGeom prst="rect">
            <a:avLst/>
          </a:prstGeom>
          <a:noFill/>
          <a:ln/>
        </p:spPr>
        <p:txBody>
          <a:bodyPr wrap="square" rtlCol="0" anchor="ctr"/>
          <a:lstStyle/>
          <a:p>
            <a:pPr indent="0" marL="0">
              <a:buNone/>
            </a:pPr>
            <a:r>
              <a:rPr lang="en-US" sz="850" dirty="0">
                <a:solidFill>
                  <a:srgbClr val="FFFFFF">
                    <a:alpha val="45000"/>
                  </a:srgbClr>
                </a:solidFill>
              </a:rPr>
              <a:t>7 July 2026 · Zero Fluff Proposal</a:t>
            </a:r>
            <a:endParaRPr lang="en-US" sz="850" dirty="0"/>
          </a:p>
        </p:txBody>
      </p:sp>
      <p:sp>
        <p:nvSpPr>
          <p:cNvPr id="3" name="Text 1"/>
          <p:cNvSpPr/>
          <p:nvPr/>
        </p:nvSpPr>
        <p:spPr>
          <a:xfrm>
            <a:off x="9875520" y="6455664"/>
            <a:ext cx="1828800" cy="292608"/>
          </a:xfrm>
          <a:prstGeom prst="rect">
            <a:avLst/>
          </a:prstGeom>
          <a:noFill/>
          <a:ln/>
        </p:spPr>
        <p:txBody>
          <a:bodyPr wrap="square" rtlCol="0" anchor="ctr"/>
          <a:lstStyle/>
          <a:p>
            <a:pPr algn="r" indent="0" marL="0">
              <a:buNone/>
            </a:pPr>
            <a:r>
              <a:rPr lang="en-US" sz="850" b="1" dirty="0">
                <a:solidFill>
                  <a:srgbClr val="FFFFFF">
                    <a:alpha val="60000"/>
                  </a:srgbClr>
                </a:solidFill>
              </a:rPr>
              <a:t>Chalk &amp; Ward</a:t>
            </a:r>
            <a:endParaRPr lang="en-US" sz="850" dirty="0"/>
          </a:p>
        </p:txBody>
      </p:sp>
      <p:sp>
        <p:nvSpPr>
          <p:cNvPr id="4" name="Text 2"/>
          <p:cNvSpPr/>
          <p:nvPr/>
        </p:nvSpPr>
        <p:spPr>
          <a:xfrm>
            <a:off x="731520" y="411480"/>
            <a:ext cx="10058400" cy="320040"/>
          </a:xfrm>
          <a:prstGeom prst="rect">
            <a:avLst/>
          </a:prstGeom>
          <a:noFill/>
          <a:ln/>
        </p:spPr>
        <p:txBody>
          <a:bodyPr wrap="square" rtlCol="0" anchor="ctr"/>
          <a:lstStyle/>
          <a:p>
            <a:pPr indent="0" marL="0">
              <a:buNone/>
            </a:pPr>
            <a:r>
              <a:rPr lang="en-US" sz="1100" b="1" spc="400" kern="0" dirty="0">
                <a:solidFill>
                  <a:srgbClr val="D6E865"/>
                </a:solidFill>
              </a:rPr>
              <a:t>INTRODUCING CHALK &amp; WARD</a:t>
            </a:r>
            <a:endParaRPr lang="en-US" sz="1100" dirty="0"/>
          </a:p>
        </p:txBody>
      </p:sp>
      <p:sp>
        <p:nvSpPr>
          <p:cNvPr id="5" name="Text 3"/>
          <p:cNvSpPr/>
          <p:nvPr/>
        </p:nvSpPr>
        <p:spPr>
          <a:xfrm>
            <a:off x="731520" y="777240"/>
            <a:ext cx="10698480" cy="640080"/>
          </a:xfrm>
          <a:prstGeom prst="rect">
            <a:avLst/>
          </a:prstGeom>
          <a:noFill/>
          <a:ln/>
        </p:spPr>
        <p:txBody>
          <a:bodyPr wrap="square" rtlCol="0" anchor="ctr"/>
          <a:lstStyle/>
          <a:p>
            <a:pPr indent="0" marL="0">
              <a:buNone/>
            </a:pPr>
            <a:r>
              <a:rPr lang="en-US" sz="2600" b="1" dirty="0">
                <a:solidFill>
                  <a:srgbClr val="FFFFFF"/>
                </a:solidFill>
              </a:rPr>
              <a:t>Meet your team</a:t>
            </a:r>
            <a:endParaRPr lang="en-US" sz="2600" dirty="0"/>
          </a:p>
        </p:txBody>
      </p:sp>
      <p:sp>
        <p:nvSpPr>
          <p:cNvPr id="6" name="Text 4"/>
          <p:cNvSpPr/>
          <p:nvPr/>
        </p:nvSpPr>
        <p:spPr>
          <a:xfrm>
            <a:off x="731520" y="1508760"/>
            <a:ext cx="10698480" cy="457200"/>
          </a:xfrm>
          <a:prstGeom prst="rect">
            <a:avLst/>
          </a:prstGeom>
          <a:noFill/>
          <a:ln/>
        </p:spPr>
        <p:txBody>
          <a:bodyPr wrap="square" rtlCol="0" anchor="ctr"/>
          <a:lstStyle/>
          <a:p>
            <a:pPr indent="0" marL="0">
              <a:buNone/>
            </a:pPr>
            <a:r>
              <a:rPr lang="en-US" sz="1200" i="1" dirty="0">
                <a:solidFill>
                  <a:srgbClr val="FFFFFF">
                    <a:alpha val="75000"/>
                  </a:srgbClr>
                </a:solidFill>
              </a:rPr>
              <a:t>We've worked with technology and professional services businesses across the South West for over 25 years, helping them translate complex, specialist offerings into clear, compelling brands that win the right kind of attention online.</a:t>
            </a:r>
            <a:endParaRPr lang="en-US" sz="1200" dirty="0"/>
          </a:p>
        </p:txBody>
      </p:sp>
      <p:sp>
        <p:nvSpPr>
          <p:cNvPr id="7" name="Shape 5"/>
          <p:cNvSpPr/>
          <p:nvPr/>
        </p:nvSpPr>
        <p:spPr>
          <a:xfrm>
            <a:off x="731520" y="2194560"/>
            <a:ext cx="2606040" cy="3566160"/>
          </a:xfrm>
          <a:prstGeom prst="rect">
            <a:avLst/>
          </a:prstGeom>
          <a:solidFill>
            <a:srgbClr val="11161A"/>
          </a:solidFill>
          <a:ln w="12700">
            <a:solidFill>
              <a:srgbClr val="11161A"/>
            </a:solidFill>
            <a:prstDash val="solid"/>
          </a:ln>
        </p:spPr>
      </p:sp>
      <p:sp>
        <p:nvSpPr>
          <p:cNvPr id="8" name="Text 6"/>
          <p:cNvSpPr/>
          <p:nvPr/>
        </p:nvSpPr>
        <p:spPr>
          <a:xfrm>
            <a:off x="868680" y="2377440"/>
            <a:ext cx="2331720" cy="365760"/>
          </a:xfrm>
          <a:prstGeom prst="rect">
            <a:avLst/>
          </a:prstGeom>
          <a:noFill/>
          <a:ln/>
        </p:spPr>
        <p:txBody>
          <a:bodyPr wrap="square" rtlCol="0" anchor="ctr"/>
          <a:lstStyle/>
          <a:p>
            <a:pPr indent="0" marL="0">
              <a:buNone/>
            </a:pPr>
            <a:r>
              <a:rPr lang="en-US" sz="1300" b="1" dirty="0">
                <a:solidFill>
                  <a:srgbClr val="FFFFFF"/>
                </a:solidFill>
              </a:rPr>
              <a:t>Greig Barclay</a:t>
            </a:r>
            <a:endParaRPr lang="en-US" sz="1300" dirty="0"/>
          </a:p>
        </p:txBody>
      </p:sp>
      <p:sp>
        <p:nvSpPr>
          <p:cNvPr id="9" name="Text 7"/>
          <p:cNvSpPr/>
          <p:nvPr/>
        </p:nvSpPr>
        <p:spPr>
          <a:xfrm>
            <a:off x="868680" y="2743200"/>
            <a:ext cx="2331720" cy="320040"/>
          </a:xfrm>
          <a:prstGeom prst="rect">
            <a:avLst/>
          </a:prstGeom>
          <a:noFill/>
          <a:ln/>
        </p:spPr>
        <p:txBody>
          <a:bodyPr wrap="square" rtlCol="0" anchor="ctr"/>
          <a:lstStyle/>
          <a:p>
            <a:pPr indent="0" marL="0">
              <a:buNone/>
            </a:pPr>
            <a:r>
              <a:rPr lang="en-US" sz="1000" b="1" dirty="0">
                <a:solidFill>
                  <a:srgbClr val="D6E865"/>
                </a:solidFill>
              </a:rPr>
              <a:t>Head of Digital</a:t>
            </a:r>
            <a:endParaRPr lang="en-US" sz="1000" dirty="0"/>
          </a:p>
        </p:txBody>
      </p:sp>
      <p:sp>
        <p:nvSpPr>
          <p:cNvPr id="10" name="Text 8"/>
          <p:cNvSpPr/>
          <p:nvPr/>
        </p:nvSpPr>
        <p:spPr>
          <a:xfrm>
            <a:off x="868680" y="3154680"/>
            <a:ext cx="2331720" cy="2468880"/>
          </a:xfrm>
          <a:prstGeom prst="rect">
            <a:avLst/>
          </a:prstGeom>
          <a:noFill/>
          <a:ln/>
        </p:spPr>
        <p:txBody>
          <a:bodyPr wrap="square" rtlCol="0" anchor="t"/>
          <a:lstStyle/>
          <a:p>
            <a:pPr indent="0" marL="0">
              <a:buNone/>
            </a:pPr>
            <a:r>
              <a:rPr lang="en-US" sz="950" dirty="0">
                <a:solidFill>
                  <a:srgbClr val="FFFFFF">
                    <a:alpha val="85000"/>
                  </a:srgbClr>
                </a:solidFill>
              </a:rPr>
              <a:t>Greig brings his digital and SEO expertise to the briefing and audit stage, ensuring the brand work is informed by a clear-eyed view of where Zero Fluff sits in search and how the refreshed brand can support future visibility.</a:t>
            </a:r>
            <a:endParaRPr lang="en-US" sz="950" dirty="0"/>
          </a:p>
        </p:txBody>
      </p:sp>
      <p:sp>
        <p:nvSpPr>
          <p:cNvPr id="11" name="Shape 9"/>
          <p:cNvSpPr/>
          <p:nvPr/>
        </p:nvSpPr>
        <p:spPr>
          <a:xfrm>
            <a:off x="3520440" y="2194560"/>
            <a:ext cx="2606040" cy="3566160"/>
          </a:xfrm>
          <a:prstGeom prst="rect">
            <a:avLst/>
          </a:prstGeom>
          <a:solidFill>
            <a:srgbClr val="11161A"/>
          </a:solidFill>
          <a:ln w="12700">
            <a:solidFill>
              <a:srgbClr val="11161A"/>
            </a:solidFill>
            <a:prstDash val="solid"/>
          </a:ln>
        </p:spPr>
      </p:sp>
      <p:sp>
        <p:nvSpPr>
          <p:cNvPr id="12" name="Text 10"/>
          <p:cNvSpPr/>
          <p:nvPr/>
        </p:nvSpPr>
        <p:spPr>
          <a:xfrm>
            <a:off x="3657600" y="2377440"/>
            <a:ext cx="2331720" cy="365760"/>
          </a:xfrm>
          <a:prstGeom prst="rect">
            <a:avLst/>
          </a:prstGeom>
          <a:noFill/>
          <a:ln/>
        </p:spPr>
        <p:txBody>
          <a:bodyPr wrap="square" rtlCol="0" anchor="ctr"/>
          <a:lstStyle/>
          <a:p>
            <a:pPr indent="0" marL="0">
              <a:buNone/>
            </a:pPr>
            <a:r>
              <a:rPr lang="en-US" sz="1300" b="1" dirty="0">
                <a:solidFill>
                  <a:srgbClr val="FFFFFF"/>
                </a:solidFill>
              </a:rPr>
              <a:t>Paddy Myers</a:t>
            </a:r>
            <a:endParaRPr lang="en-US" sz="1300" dirty="0"/>
          </a:p>
        </p:txBody>
      </p:sp>
      <p:sp>
        <p:nvSpPr>
          <p:cNvPr id="13" name="Text 11"/>
          <p:cNvSpPr/>
          <p:nvPr/>
        </p:nvSpPr>
        <p:spPr>
          <a:xfrm>
            <a:off x="3657600" y="2743200"/>
            <a:ext cx="2331720" cy="320040"/>
          </a:xfrm>
          <a:prstGeom prst="rect">
            <a:avLst/>
          </a:prstGeom>
          <a:noFill/>
          <a:ln/>
        </p:spPr>
        <p:txBody>
          <a:bodyPr wrap="square" rtlCol="0" anchor="ctr"/>
          <a:lstStyle/>
          <a:p>
            <a:pPr indent="0" marL="0">
              <a:buNone/>
            </a:pPr>
            <a:r>
              <a:rPr lang="en-US" sz="1000" b="1" dirty="0">
                <a:solidFill>
                  <a:srgbClr val="D6E865"/>
                </a:solidFill>
              </a:rPr>
              <a:t>Client Lead</a:t>
            </a:r>
            <a:endParaRPr lang="en-US" sz="1000" dirty="0"/>
          </a:p>
        </p:txBody>
      </p:sp>
      <p:sp>
        <p:nvSpPr>
          <p:cNvPr id="14" name="Text 12"/>
          <p:cNvSpPr/>
          <p:nvPr/>
        </p:nvSpPr>
        <p:spPr>
          <a:xfrm>
            <a:off x="3657600" y="3154680"/>
            <a:ext cx="2331720" cy="2468880"/>
          </a:xfrm>
          <a:prstGeom prst="rect">
            <a:avLst/>
          </a:prstGeom>
          <a:noFill/>
          <a:ln/>
        </p:spPr>
        <p:txBody>
          <a:bodyPr wrap="square" rtlCol="0" anchor="t"/>
          <a:lstStyle/>
          <a:p>
            <a:pPr indent="0" marL="0">
              <a:buNone/>
            </a:pPr>
            <a:r>
              <a:rPr lang="en-US" sz="950" dirty="0">
                <a:solidFill>
                  <a:srgbClr val="FFFFFF">
                    <a:alpha val="85000"/>
                  </a:srgbClr>
                </a:solidFill>
              </a:rPr>
              <a:t>Paddy is your day-to-day contact throughout the project — he keeps every workstream joined up, makes sure nothing falls between the cracks, and is the person you call when you have a question or a concern.</a:t>
            </a:r>
            <a:endParaRPr lang="en-US" sz="950" dirty="0"/>
          </a:p>
        </p:txBody>
      </p:sp>
      <p:sp>
        <p:nvSpPr>
          <p:cNvPr id="15" name="Shape 13"/>
          <p:cNvSpPr/>
          <p:nvPr/>
        </p:nvSpPr>
        <p:spPr>
          <a:xfrm>
            <a:off x="6309360" y="2194560"/>
            <a:ext cx="2606040" cy="3566160"/>
          </a:xfrm>
          <a:prstGeom prst="rect">
            <a:avLst/>
          </a:prstGeom>
          <a:solidFill>
            <a:srgbClr val="11161A"/>
          </a:solidFill>
          <a:ln w="12700">
            <a:solidFill>
              <a:srgbClr val="11161A"/>
            </a:solidFill>
            <a:prstDash val="solid"/>
          </a:ln>
        </p:spPr>
      </p:sp>
      <p:sp>
        <p:nvSpPr>
          <p:cNvPr id="16" name="Text 14"/>
          <p:cNvSpPr/>
          <p:nvPr/>
        </p:nvSpPr>
        <p:spPr>
          <a:xfrm>
            <a:off x="6446520" y="2377440"/>
            <a:ext cx="2331720" cy="365760"/>
          </a:xfrm>
          <a:prstGeom prst="rect">
            <a:avLst/>
          </a:prstGeom>
          <a:noFill/>
          <a:ln/>
        </p:spPr>
        <p:txBody>
          <a:bodyPr wrap="square" rtlCol="0" anchor="ctr"/>
          <a:lstStyle/>
          <a:p>
            <a:pPr indent="0" marL="0">
              <a:buNone/>
            </a:pPr>
            <a:r>
              <a:rPr lang="en-US" sz="1300" b="1" dirty="0">
                <a:solidFill>
                  <a:srgbClr val="FFFFFF"/>
                </a:solidFill>
              </a:rPr>
              <a:t>Imogen Belton</a:t>
            </a:r>
            <a:endParaRPr lang="en-US" sz="1300" dirty="0"/>
          </a:p>
        </p:txBody>
      </p:sp>
      <p:sp>
        <p:nvSpPr>
          <p:cNvPr id="17" name="Text 15"/>
          <p:cNvSpPr/>
          <p:nvPr/>
        </p:nvSpPr>
        <p:spPr>
          <a:xfrm>
            <a:off x="6446520" y="2743200"/>
            <a:ext cx="2331720" cy="320040"/>
          </a:xfrm>
          <a:prstGeom prst="rect">
            <a:avLst/>
          </a:prstGeom>
          <a:noFill/>
          <a:ln/>
        </p:spPr>
        <p:txBody>
          <a:bodyPr wrap="square" rtlCol="0" anchor="ctr"/>
          <a:lstStyle/>
          <a:p>
            <a:pPr indent="0" marL="0">
              <a:buNone/>
            </a:pPr>
            <a:r>
              <a:rPr lang="en-US" sz="1000" b="1" dirty="0">
                <a:solidFill>
                  <a:srgbClr val="D6E865"/>
                </a:solidFill>
              </a:rPr>
              <a:t>Lead Designer</a:t>
            </a:r>
            <a:endParaRPr lang="en-US" sz="1000" dirty="0"/>
          </a:p>
        </p:txBody>
      </p:sp>
      <p:sp>
        <p:nvSpPr>
          <p:cNvPr id="18" name="Text 16"/>
          <p:cNvSpPr/>
          <p:nvPr/>
        </p:nvSpPr>
        <p:spPr>
          <a:xfrm>
            <a:off x="6446520" y="3154680"/>
            <a:ext cx="2331720" cy="2468880"/>
          </a:xfrm>
          <a:prstGeom prst="rect">
            <a:avLst/>
          </a:prstGeom>
          <a:noFill/>
          <a:ln/>
        </p:spPr>
        <p:txBody>
          <a:bodyPr wrap="square" rtlCol="0" anchor="t"/>
          <a:lstStyle/>
          <a:p>
            <a:pPr indent="0" marL="0">
              <a:buNone/>
            </a:pPr>
            <a:r>
              <a:rPr lang="en-US" sz="950" dirty="0">
                <a:solidFill>
                  <a:srgbClr val="FFFFFF">
                    <a:alpha val="85000"/>
                  </a:srgbClr>
                </a:solidFill>
              </a:rPr>
              <a:t>Imogen owns the design style and brand guidelines work, translating the values and tone into a visual system that feels right for Zero Fluff and is practical to use.</a:t>
            </a:r>
            <a:endParaRPr lang="en-US" sz="950" dirty="0"/>
          </a:p>
        </p:txBody>
      </p:sp>
      <p:sp>
        <p:nvSpPr>
          <p:cNvPr id="19" name="Shape 17"/>
          <p:cNvSpPr/>
          <p:nvPr/>
        </p:nvSpPr>
        <p:spPr>
          <a:xfrm>
            <a:off x="9098280" y="2194560"/>
            <a:ext cx="2606040" cy="3566160"/>
          </a:xfrm>
          <a:prstGeom prst="rect">
            <a:avLst/>
          </a:prstGeom>
          <a:solidFill>
            <a:srgbClr val="11161A"/>
          </a:solidFill>
          <a:ln w="12700">
            <a:solidFill>
              <a:srgbClr val="11161A"/>
            </a:solidFill>
            <a:prstDash val="solid"/>
          </a:ln>
        </p:spPr>
      </p:sp>
      <p:sp>
        <p:nvSpPr>
          <p:cNvPr id="20" name="Text 18"/>
          <p:cNvSpPr/>
          <p:nvPr/>
        </p:nvSpPr>
        <p:spPr>
          <a:xfrm>
            <a:off x="9235440" y="2377440"/>
            <a:ext cx="2331720" cy="365760"/>
          </a:xfrm>
          <a:prstGeom prst="rect">
            <a:avLst/>
          </a:prstGeom>
          <a:noFill/>
          <a:ln/>
        </p:spPr>
        <p:txBody>
          <a:bodyPr wrap="square" rtlCol="0" anchor="ctr"/>
          <a:lstStyle/>
          <a:p>
            <a:pPr indent="0" marL="0">
              <a:buNone/>
            </a:pPr>
            <a:r>
              <a:rPr lang="en-US" sz="1300" b="1" dirty="0">
                <a:solidFill>
                  <a:srgbClr val="FFFFFF"/>
                </a:solidFill>
              </a:rPr>
              <a:t>Alister Tickle</a:t>
            </a:r>
            <a:endParaRPr lang="en-US" sz="1300" dirty="0"/>
          </a:p>
        </p:txBody>
      </p:sp>
      <p:sp>
        <p:nvSpPr>
          <p:cNvPr id="21" name="Text 19"/>
          <p:cNvSpPr/>
          <p:nvPr/>
        </p:nvSpPr>
        <p:spPr>
          <a:xfrm>
            <a:off x="9235440" y="2743200"/>
            <a:ext cx="2331720" cy="320040"/>
          </a:xfrm>
          <a:prstGeom prst="rect">
            <a:avLst/>
          </a:prstGeom>
          <a:noFill/>
          <a:ln/>
        </p:spPr>
        <p:txBody>
          <a:bodyPr wrap="square" rtlCol="0" anchor="ctr"/>
          <a:lstStyle/>
          <a:p>
            <a:pPr indent="0" marL="0">
              <a:buNone/>
            </a:pPr>
            <a:r>
              <a:rPr lang="en-US" sz="1000" b="1" dirty="0">
                <a:solidFill>
                  <a:srgbClr val="D6E865"/>
                </a:solidFill>
              </a:rPr>
              <a:t>Strategic Creative</a:t>
            </a:r>
            <a:endParaRPr lang="en-US" sz="1000" dirty="0"/>
          </a:p>
        </p:txBody>
      </p:sp>
      <p:sp>
        <p:nvSpPr>
          <p:cNvPr id="22" name="Text 20"/>
          <p:cNvSpPr/>
          <p:nvPr/>
        </p:nvSpPr>
        <p:spPr>
          <a:xfrm>
            <a:off x="9235440" y="3154680"/>
            <a:ext cx="2331720" cy="2468880"/>
          </a:xfrm>
          <a:prstGeom prst="rect">
            <a:avLst/>
          </a:prstGeom>
          <a:noFill/>
          <a:ln/>
        </p:spPr>
        <p:txBody>
          <a:bodyPr wrap="square" rtlCol="0" anchor="t"/>
          <a:lstStyle/>
          <a:p>
            <a:pPr indent="0" marL="0">
              <a:buNone/>
            </a:pPr>
            <a:r>
              <a:rPr lang="en-US" sz="950" dirty="0">
                <a:solidFill>
                  <a:srgbClr val="FFFFFF">
                    <a:alpha val="85000"/>
                  </a:srgbClr>
                </a:solidFill>
              </a:rPr>
              <a:t>Alister leads the Core Values session and sets the strategic narrative for Zero Fluff — making sure the brand story is coherent, differentiated, and something you can both deliver on consistently.</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D252D"/>
        </a:solidFill>
      </p:bgPr>
    </p:bg>
    <p:spTree>
      <p:nvGrpSpPr>
        <p:cNvPr id="1" name=""/>
        <p:cNvGrpSpPr/>
        <p:nvPr/>
      </p:nvGrpSpPr>
      <p:grpSpPr>
        <a:xfrm>
          <a:off x="0" y="0"/>
          <a:ext cx="0" cy="0"/>
          <a:chOff x="0" y="0"/>
          <a:chExt cx="0" cy="0"/>
        </a:xfrm>
      </p:grpSpPr>
      <p:sp>
        <p:nvSpPr>
          <p:cNvPr id="2" name="Text 0"/>
          <p:cNvSpPr/>
          <p:nvPr/>
        </p:nvSpPr>
        <p:spPr>
          <a:xfrm>
            <a:off x="457200" y="6455664"/>
            <a:ext cx="8229600" cy="292608"/>
          </a:xfrm>
          <a:prstGeom prst="rect">
            <a:avLst/>
          </a:prstGeom>
          <a:noFill/>
          <a:ln/>
        </p:spPr>
        <p:txBody>
          <a:bodyPr wrap="square" rtlCol="0" anchor="ctr"/>
          <a:lstStyle/>
          <a:p>
            <a:pPr indent="0" marL="0">
              <a:buNone/>
            </a:pPr>
            <a:r>
              <a:rPr lang="en-US" sz="850" dirty="0">
                <a:solidFill>
                  <a:srgbClr val="FFFFFF">
                    <a:alpha val="45000"/>
                  </a:srgbClr>
                </a:solidFill>
              </a:rPr>
              <a:t>7 July 2026 · Zero Fluff Proposal</a:t>
            </a:r>
            <a:endParaRPr lang="en-US" sz="850" dirty="0"/>
          </a:p>
        </p:txBody>
      </p:sp>
      <p:sp>
        <p:nvSpPr>
          <p:cNvPr id="3" name="Text 1"/>
          <p:cNvSpPr/>
          <p:nvPr/>
        </p:nvSpPr>
        <p:spPr>
          <a:xfrm>
            <a:off x="9875520" y="6455664"/>
            <a:ext cx="1828800" cy="292608"/>
          </a:xfrm>
          <a:prstGeom prst="rect">
            <a:avLst/>
          </a:prstGeom>
          <a:noFill/>
          <a:ln/>
        </p:spPr>
        <p:txBody>
          <a:bodyPr wrap="square" rtlCol="0" anchor="ctr"/>
          <a:lstStyle/>
          <a:p>
            <a:pPr algn="r" indent="0" marL="0">
              <a:buNone/>
            </a:pPr>
            <a:r>
              <a:rPr lang="en-US" sz="850" b="1" dirty="0">
                <a:solidFill>
                  <a:srgbClr val="FFFFFF">
                    <a:alpha val="60000"/>
                  </a:srgbClr>
                </a:solidFill>
              </a:rPr>
              <a:t>Chalk &amp; Ward</a:t>
            </a:r>
            <a:endParaRPr lang="en-US" sz="850" dirty="0"/>
          </a:p>
        </p:txBody>
      </p:sp>
      <p:sp>
        <p:nvSpPr>
          <p:cNvPr id="4" name="Text 2"/>
          <p:cNvSpPr/>
          <p:nvPr/>
        </p:nvSpPr>
        <p:spPr>
          <a:xfrm>
            <a:off x="731520" y="411480"/>
            <a:ext cx="10058400" cy="320040"/>
          </a:xfrm>
          <a:prstGeom prst="rect">
            <a:avLst/>
          </a:prstGeom>
          <a:noFill/>
          <a:ln/>
        </p:spPr>
        <p:txBody>
          <a:bodyPr wrap="square" rtlCol="0" anchor="ctr"/>
          <a:lstStyle/>
          <a:p>
            <a:pPr indent="0" marL="0">
              <a:buNone/>
            </a:pPr>
            <a:r>
              <a:rPr lang="en-US" sz="1100" b="1" spc="400" kern="0" dirty="0">
                <a:solidFill>
                  <a:srgbClr val="D6E865"/>
                </a:solidFill>
              </a:rPr>
              <a:t>WHO WE WORK WITH</a:t>
            </a:r>
            <a:endParaRPr lang="en-US" sz="1100" dirty="0"/>
          </a:p>
        </p:txBody>
      </p:sp>
      <p:pic>
        <p:nvPicPr>
          <p:cNvPr id="5" name="Image 0" descr="/app/src/public/logos/All-Saints-Teaching-Academy.png">    </p:cNvPr>
          <p:cNvPicPr>
            <a:picLocks noChangeAspect="1"/>
          </p:cNvPicPr>
          <p:nvPr/>
        </p:nvPicPr>
        <p:blipFill>
          <a:blip r:embed="rId1"/>
          <a:srcRect l="0" r="0" t="0" b="0"/>
          <a:stretch/>
        </p:blipFill>
        <p:spPr>
          <a:xfrm>
            <a:off x="822960" y="1280160"/>
            <a:ext cx="1463040" cy="1280160"/>
          </a:xfrm>
          <a:prstGeom prst="rect">
            <a:avLst/>
          </a:prstGeom>
        </p:spPr>
      </p:pic>
      <p:pic>
        <p:nvPicPr>
          <p:cNvPr id="6" name="Image 1" descr="/app/src/public/logos/Care-Control.png">    </p:cNvPr>
          <p:cNvPicPr>
            <a:picLocks noChangeAspect="1"/>
          </p:cNvPicPr>
          <p:nvPr/>
        </p:nvPicPr>
        <p:blipFill>
          <a:blip r:embed="rId2"/>
          <a:srcRect l="0" r="0" t="0" b="0"/>
          <a:stretch/>
        </p:blipFill>
        <p:spPr>
          <a:xfrm>
            <a:off x="2651760" y="1280160"/>
            <a:ext cx="1463040" cy="1280160"/>
          </a:xfrm>
          <a:prstGeom prst="rect">
            <a:avLst/>
          </a:prstGeom>
        </p:spPr>
      </p:pic>
      <p:pic>
        <p:nvPicPr>
          <p:cNvPr id="7" name="Image 2" descr="/app/src/public/logos/Carparison.png">    </p:cNvPr>
          <p:cNvPicPr>
            <a:picLocks noChangeAspect="1"/>
          </p:cNvPicPr>
          <p:nvPr/>
        </p:nvPicPr>
        <p:blipFill>
          <a:blip r:embed="rId3"/>
          <a:srcRect l="0" r="0" t="0" b="0"/>
          <a:stretch/>
        </p:blipFill>
        <p:spPr>
          <a:xfrm>
            <a:off x="4480560" y="1280160"/>
            <a:ext cx="1463040" cy="1280160"/>
          </a:xfrm>
          <a:prstGeom prst="rect">
            <a:avLst/>
          </a:prstGeom>
        </p:spPr>
      </p:pic>
      <p:pic>
        <p:nvPicPr>
          <p:cNvPr id="8" name="Image 3" descr="/app/src/public/logos/Clean-Earth.png">    </p:cNvPr>
          <p:cNvPicPr>
            <a:picLocks noChangeAspect="1"/>
          </p:cNvPicPr>
          <p:nvPr/>
        </p:nvPicPr>
        <p:blipFill>
          <a:blip r:embed="rId4"/>
          <a:srcRect l="0" r="0" t="0" b="0"/>
          <a:stretch/>
        </p:blipFill>
        <p:spPr>
          <a:xfrm>
            <a:off x="6309360" y="1280160"/>
            <a:ext cx="1463040" cy="1280160"/>
          </a:xfrm>
          <a:prstGeom prst="rect">
            <a:avLst/>
          </a:prstGeom>
        </p:spPr>
      </p:pic>
      <p:pic>
        <p:nvPicPr>
          <p:cNvPr id="9" name="Image 4" descr="/app/src/public/logos/Enact-energy.png">    </p:cNvPr>
          <p:cNvPicPr>
            <a:picLocks noChangeAspect="1"/>
          </p:cNvPicPr>
          <p:nvPr/>
        </p:nvPicPr>
        <p:blipFill>
          <a:blip r:embed="rId5"/>
          <a:srcRect l="0" r="0" t="0" b="0"/>
          <a:stretch/>
        </p:blipFill>
        <p:spPr>
          <a:xfrm>
            <a:off x="8138160" y="1280160"/>
            <a:ext cx="1463040" cy="1280160"/>
          </a:xfrm>
          <a:prstGeom prst="rect">
            <a:avLst/>
          </a:prstGeom>
        </p:spPr>
      </p:pic>
      <p:pic>
        <p:nvPicPr>
          <p:cNvPr id="10" name="Image 5" descr="/app/src/public/logos/MoleEnergy.png">    </p:cNvPr>
          <p:cNvPicPr>
            <a:picLocks noChangeAspect="1"/>
          </p:cNvPicPr>
          <p:nvPr/>
        </p:nvPicPr>
        <p:blipFill>
          <a:blip r:embed="rId6"/>
          <a:srcRect l="0" r="0" t="0" b="0"/>
          <a:stretch/>
        </p:blipFill>
        <p:spPr>
          <a:xfrm>
            <a:off x="9966960" y="1280160"/>
            <a:ext cx="1463040" cy="1280160"/>
          </a:xfrm>
          <a:prstGeom prst="rect">
            <a:avLst/>
          </a:prstGeom>
        </p:spPr>
      </p:pic>
      <p:pic>
        <p:nvPicPr>
          <p:cNvPr id="11" name="Image 6" descr="/app/src/public/logos/Scomis.png">    </p:cNvPr>
          <p:cNvPicPr>
            <a:picLocks noChangeAspect="1"/>
          </p:cNvPicPr>
          <p:nvPr/>
        </p:nvPicPr>
        <p:blipFill>
          <a:blip r:embed="rId7"/>
          <a:srcRect l="0" r="0" t="0" b="0"/>
          <a:stretch/>
        </p:blipFill>
        <p:spPr>
          <a:xfrm>
            <a:off x="822960" y="3017520"/>
            <a:ext cx="1463040" cy="1280160"/>
          </a:xfrm>
          <a:prstGeom prst="rect">
            <a:avLst/>
          </a:prstGeom>
        </p:spPr>
      </p:pic>
      <p:pic>
        <p:nvPicPr>
          <p:cNvPr id="12" name="Image 7" descr="/app/src/public/logos/Sungift.png">    </p:cNvPr>
          <p:cNvPicPr>
            <a:picLocks noChangeAspect="1"/>
          </p:cNvPicPr>
          <p:nvPr/>
        </p:nvPicPr>
        <p:blipFill>
          <a:blip r:embed="rId8"/>
          <a:srcRect l="0" r="0" t="0" b="0"/>
          <a:stretch/>
        </p:blipFill>
        <p:spPr>
          <a:xfrm>
            <a:off x="2651760" y="3017520"/>
            <a:ext cx="1463040" cy="1280160"/>
          </a:xfrm>
          <a:prstGeom prst="rect">
            <a:avLst/>
          </a:prstGeom>
        </p:spPr>
      </p:pic>
      <p:pic>
        <p:nvPicPr>
          <p:cNvPr id="13" name="Image 8" descr="/app/src/public/logos/Tangelo.png">    </p:cNvPr>
          <p:cNvPicPr>
            <a:picLocks noChangeAspect="1"/>
          </p:cNvPicPr>
          <p:nvPr/>
        </p:nvPicPr>
        <p:blipFill>
          <a:blip r:embed="rId9"/>
          <a:srcRect l="0" r="0" t="0" b="0"/>
          <a:stretch/>
        </p:blipFill>
        <p:spPr>
          <a:xfrm>
            <a:off x="4480560" y="3017520"/>
            <a:ext cx="1463040" cy="1280160"/>
          </a:xfrm>
          <a:prstGeom prst="rect">
            <a:avLst/>
          </a:prstGeom>
        </p:spPr>
      </p:pic>
      <p:pic>
        <p:nvPicPr>
          <p:cNvPr id="14" name="Image 9" descr="/app/src/public/logos/Wright-Clean.png">    </p:cNvPr>
          <p:cNvPicPr>
            <a:picLocks noChangeAspect="1"/>
          </p:cNvPicPr>
          <p:nvPr/>
        </p:nvPicPr>
        <p:blipFill>
          <a:blip r:embed="rId10"/>
          <a:srcRect l="0" r="0" t="0" b="0"/>
          <a:stretch/>
        </p:blipFill>
        <p:spPr>
          <a:xfrm>
            <a:off x="6309360" y="3017520"/>
            <a:ext cx="1463040" cy="1280160"/>
          </a:xfrm>
          <a:prstGeom prst="rect">
            <a:avLst/>
          </a:prstGeom>
        </p:spPr>
      </p:pic>
      <p:pic>
        <p:nvPicPr>
          <p:cNvPr id="15" name="Image 10" descr="/app/src/public/logos/Abode.png">    </p:cNvPr>
          <p:cNvPicPr>
            <a:picLocks noChangeAspect="1"/>
          </p:cNvPicPr>
          <p:nvPr/>
        </p:nvPicPr>
        <p:blipFill>
          <a:blip r:embed="rId11"/>
          <a:srcRect l="0" r="0" t="0" b="0"/>
          <a:stretch/>
        </p:blipFill>
        <p:spPr>
          <a:xfrm>
            <a:off x="8138160" y="3017520"/>
            <a:ext cx="1463040" cy="1280160"/>
          </a:xfrm>
          <a:prstGeom prst="rect">
            <a:avLst/>
          </a:prstGeom>
        </p:spPr>
      </p:pic>
      <p:pic>
        <p:nvPicPr>
          <p:cNvPr id="16" name="Image 11" descr="/app/src/public/logos/Accountancy-Learning.png">    </p:cNvPr>
          <p:cNvPicPr>
            <a:picLocks noChangeAspect="1"/>
          </p:cNvPicPr>
          <p:nvPr/>
        </p:nvPicPr>
        <p:blipFill>
          <a:blip r:embed="rId12"/>
          <a:srcRect l="0" r="0" t="0" b="0"/>
          <a:stretch/>
        </p:blipFill>
        <p:spPr>
          <a:xfrm>
            <a:off x="9966960" y="3017520"/>
            <a:ext cx="1463040" cy="128016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61C21"/>
        </a:solidFill>
      </p:bgPr>
    </p:bg>
    <p:spTree>
      <p:nvGrpSpPr>
        <p:cNvPr id="1" name=""/>
        <p:cNvGrpSpPr/>
        <p:nvPr/>
      </p:nvGrpSpPr>
      <p:grpSpPr>
        <a:xfrm>
          <a:off x="0" y="0"/>
          <a:ext cx="0" cy="0"/>
          <a:chOff x="0" y="0"/>
          <a:chExt cx="0" cy="0"/>
        </a:xfrm>
      </p:grpSpPr>
      <p:sp>
        <p:nvSpPr>
          <p:cNvPr id="2" name="Text 0"/>
          <p:cNvSpPr/>
          <p:nvPr/>
        </p:nvSpPr>
        <p:spPr>
          <a:xfrm>
            <a:off x="457200" y="6455664"/>
            <a:ext cx="8229600" cy="292608"/>
          </a:xfrm>
          <a:prstGeom prst="rect">
            <a:avLst/>
          </a:prstGeom>
          <a:noFill/>
          <a:ln/>
        </p:spPr>
        <p:txBody>
          <a:bodyPr wrap="square" rtlCol="0" anchor="ctr"/>
          <a:lstStyle/>
          <a:p>
            <a:pPr indent="0" marL="0">
              <a:buNone/>
            </a:pPr>
            <a:r>
              <a:rPr lang="en-US" sz="850" dirty="0">
                <a:solidFill>
                  <a:srgbClr val="FFFFFF">
                    <a:alpha val="45000"/>
                  </a:srgbClr>
                </a:solidFill>
              </a:rPr>
              <a:t>7 July 2026 · Zero Fluff Proposal</a:t>
            </a:r>
            <a:endParaRPr lang="en-US" sz="850" dirty="0"/>
          </a:p>
        </p:txBody>
      </p:sp>
      <p:sp>
        <p:nvSpPr>
          <p:cNvPr id="3" name="Text 1"/>
          <p:cNvSpPr/>
          <p:nvPr/>
        </p:nvSpPr>
        <p:spPr>
          <a:xfrm>
            <a:off x="9875520" y="6455664"/>
            <a:ext cx="1828800" cy="292608"/>
          </a:xfrm>
          <a:prstGeom prst="rect">
            <a:avLst/>
          </a:prstGeom>
          <a:noFill/>
          <a:ln/>
        </p:spPr>
        <p:txBody>
          <a:bodyPr wrap="square" rtlCol="0" anchor="ctr"/>
          <a:lstStyle/>
          <a:p>
            <a:pPr algn="r" indent="0" marL="0">
              <a:buNone/>
            </a:pPr>
            <a:r>
              <a:rPr lang="en-US" sz="850" b="1" dirty="0">
                <a:solidFill>
                  <a:srgbClr val="FFFFFF">
                    <a:alpha val="60000"/>
                  </a:srgbClr>
                </a:solidFill>
              </a:rPr>
              <a:t>Chalk &amp; Ward</a:t>
            </a:r>
            <a:endParaRPr lang="en-US" sz="850" dirty="0"/>
          </a:p>
        </p:txBody>
      </p:sp>
      <p:sp>
        <p:nvSpPr>
          <p:cNvPr id="4" name="Text 2"/>
          <p:cNvSpPr/>
          <p:nvPr/>
        </p:nvSpPr>
        <p:spPr>
          <a:xfrm>
            <a:off x="731520" y="411480"/>
            <a:ext cx="10058400" cy="320040"/>
          </a:xfrm>
          <a:prstGeom prst="rect">
            <a:avLst/>
          </a:prstGeom>
          <a:noFill/>
          <a:ln/>
        </p:spPr>
        <p:txBody>
          <a:bodyPr wrap="square" rtlCol="0" anchor="ctr"/>
          <a:lstStyle/>
          <a:p>
            <a:pPr indent="0" marL="0">
              <a:buNone/>
            </a:pPr>
            <a:r>
              <a:rPr lang="en-US" sz="1100" b="1" spc="400" kern="0" dirty="0">
                <a:solidFill>
                  <a:srgbClr val="D6E865"/>
                </a:solidFill>
              </a:rPr>
              <a:t>WHERE YOU STAND</a:t>
            </a:r>
            <a:endParaRPr lang="en-US" sz="1100" dirty="0"/>
          </a:p>
        </p:txBody>
      </p:sp>
      <p:sp>
        <p:nvSpPr>
          <p:cNvPr id="5" name="Text 3"/>
          <p:cNvSpPr/>
          <p:nvPr/>
        </p:nvSpPr>
        <p:spPr>
          <a:xfrm>
            <a:off x="731520" y="777240"/>
            <a:ext cx="10698480" cy="640080"/>
          </a:xfrm>
          <a:prstGeom prst="rect">
            <a:avLst/>
          </a:prstGeom>
          <a:noFill/>
          <a:ln/>
        </p:spPr>
        <p:txBody>
          <a:bodyPr wrap="square" rtlCol="0" anchor="ctr"/>
          <a:lstStyle/>
          <a:p>
            <a:pPr indent="0" marL="0">
              <a:buNone/>
            </a:pPr>
            <a:r>
              <a:rPr lang="en-US" sz="2600" b="1" dirty="0">
                <a:solidFill>
                  <a:srgbClr val="FFFFFF"/>
                </a:solidFill>
              </a:rPr>
              <a:t>Strengths, gaps and the opportunity</a:t>
            </a:r>
            <a:endParaRPr lang="en-US" sz="2600" dirty="0"/>
          </a:p>
        </p:txBody>
      </p:sp>
      <p:sp>
        <p:nvSpPr>
          <p:cNvPr id="6" name="Shape 4"/>
          <p:cNvSpPr/>
          <p:nvPr/>
        </p:nvSpPr>
        <p:spPr>
          <a:xfrm>
            <a:off x="731520" y="1645920"/>
            <a:ext cx="5212080" cy="2286000"/>
          </a:xfrm>
          <a:prstGeom prst="rect">
            <a:avLst/>
          </a:prstGeom>
          <a:solidFill>
            <a:srgbClr val="11161A"/>
          </a:solidFill>
          <a:ln w="12700">
            <a:solidFill>
              <a:srgbClr val="11161A"/>
            </a:solidFill>
            <a:prstDash val="solid"/>
          </a:ln>
        </p:spPr>
      </p:sp>
      <p:sp>
        <p:nvSpPr>
          <p:cNvPr id="7" name="Text 5"/>
          <p:cNvSpPr/>
          <p:nvPr/>
        </p:nvSpPr>
        <p:spPr>
          <a:xfrm>
            <a:off x="914400" y="1783080"/>
            <a:ext cx="4846320" cy="320040"/>
          </a:xfrm>
          <a:prstGeom prst="rect">
            <a:avLst/>
          </a:prstGeom>
          <a:noFill/>
          <a:ln/>
        </p:spPr>
        <p:txBody>
          <a:bodyPr wrap="square" rtlCol="0" anchor="ctr"/>
          <a:lstStyle/>
          <a:p>
            <a:pPr indent="0" marL="0">
              <a:buNone/>
            </a:pPr>
            <a:r>
              <a:rPr lang="en-US" sz="1100" b="1" dirty="0">
                <a:solidFill>
                  <a:srgbClr val="D6E865"/>
                </a:solidFill>
              </a:rPr>
              <a:t>Strengths</a:t>
            </a:r>
            <a:endParaRPr lang="en-US" sz="1100" dirty="0"/>
          </a:p>
        </p:txBody>
      </p:sp>
      <p:sp>
        <p:nvSpPr>
          <p:cNvPr id="8" name="Text 6"/>
          <p:cNvSpPr/>
          <p:nvPr/>
        </p:nvSpPr>
        <p:spPr>
          <a:xfrm>
            <a:off x="914400" y="2148840"/>
            <a:ext cx="4846320" cy="1691640"/>
          </a:xfrm>
          <a:prstGeom prst="rect">
            <a:avLst/>
          </a:prstGeom>
          <a:noFill/>
          <a:ln/>
        </p:spPr>
        <p:txBody>
          <a:bodyPr wrap="square" rtlCol="0" anchor="t"/>
          <a:lstStyle/>
          <a:p>
            <a:pPr marL="342900" indent="-342900">
              <a:spcAft>
                <a:spcPts val="400"/>
              </a:spcAft>
              <a:buSzPct val="100000"/>
              <a:buChar char="•"/>
            </a:pPr>
            <a:r>
              <a:rPr lang="en-US" sz="950" dirty="0">
                <a:solidFill>
                  <a:srgbClr val="FFFFFF"/>
                </a:solidFill>
              </a:rPr>
              <a:t>Zero Fluff's website scores 100 out of 100 for SEO on mobile — meaning the technical on-page foundations (title tags, meta descriptions, structured markup) are already correctly configured, which is a genuine head start. Many businesses at this stage need remedial technical work before any visibility campaign can begin; you don't.</a:t>
            </a:r>
            <a:endParaRPr lang="en-US" sz="950" dirty="0"/>
          </a:p>
          <a:p>
            <a:pPr marL="342900" indent="-342900">
              <a:spcAft>
                <a:spcPts val="400"/>
              </a:spcAft>
              <a:buSzPct val="100000"/>
              <a:buChar char="•"/>
            </a:pPr>
            <a:r>
              <a:rPr lang="en-US" sz="950" dirty="0">
                <a:solidFill>
                  <a:srgbClr val="FFFFFF"/>
                </a:solidFill>
              </a:rPr>
              <a:t>The site also scores 96 for accessibility and 80 for mobile performance, with a First Contentful Paint of 0.9 seconds — meaning the page starts loading something visible almost immediately, which keeps potential visitors from bouncing before they've seen anything.</a:t>
            </a:r>
            <a:endParaRPr lang="en-US" sz="950" dirty="0"/>
          </a:p>
          <a:p>
            <a:pPr marL="342900" indent="-342900">
              <a:spcAft>
                <a:spcPts val="400"/>
              </a:spcAft>
              <a:buSzPct val="100000"/>
              <a:buChar char="•"/>
            </a:pPr>
            <a:r>
              <a:rPr lang="en-US" sz="950" dirty="0">
                <a:solidFill>
                  <a:srgbClr val="FFFFFF"/>
                </a:solidFill>
              </a:rPr>
              <a:t>Being a specialist AI consultancy in Totnes gives Zero Fluff a tight, credible niche. You're not trying to be everything to everyone — the name itself signals clarity of purpose, which is a branding asset when the market is noisy with generalist tech providers.</a:t>
            </a:r>
            <a:endParaRPr lang="en-US" sz="950" dirty="0"/>
          </a:p>
        </p:txBody>
      </p:sp>
      <p:sp>
        <p:nvSpPr>
          <p:cNvPr id="9" name="Shape 7"/>
          <p:cNvSpPr/>
          <p:nvPr/>
        </p:nvSpPr>
        <p:spPr>
          <a:xfrm>
            <a:off x="6400800" y="1645920"/>
            <a:ext cx="5212080" cy="2286000"/>
          </a:xfrm>
          <a:prstGeom prst="rect">
            <a:avLst/>
          </a:prstGeom>
          <a:solidFill>
            <a:srgbClr val="11161A"/>
          </a:solidFill>
          <a:ln w="12700">
            <a:solidFill>
              <a:srgbClr val="11161A"/>
            </a:solidFill>
            <a:prstDash val="solid"/>
          </a:ln>
        </p:spPr>
      </p:sp>
      <p:sp>
        <p:nvSpPr>
          <p:cNvPr id="10" name="Text 8"/>
          <p:cNvSpPr/>
          <p:nvPr/>
        </p:nvSpPr>
        <p:spPr>
          <a:xfrm>
            <a:off x="6583680" y="1783080"/>
            <a:ext cx="4846320" cy="320040"/>
          </a:xfrm>
          <a:prstGeom prst="rect">
            <a:avLst/>
          </a:prstGeom>
          <a:noFill/>
          <a:ln/>
        </p:spPr>
        <p:txBody>
          <a:bodyPr wrap="square" rtlCol="0" anchor="ctr"/>
          <a:lstStyle/>
          <a:p>
            <a:pPr indent="0" marL="0">
              <a:buNone/>
            </a:pPr>
            <a:r>
              <a:rPr lang="en-US" sz="1100" b="1" dirty="0">
                <a:solidFill>
                  <a:srgbClr val="D6E865"/>
                </a:solidFill>
              </a:rPr>
              <a:t>Weaknesses</a:t>
            </a:r>
            <a:endParaRPr lang="en-US" sz="1100" dirty="0"/>
          </a:p>
        </p:txBody>
      </p:sp>
      <p:sp>
        <p:nvSpPr>
          <p:cNvPr id="11" name="Text 9"/>
          <p:cNvSpPr/>
          <p:nvPr/>
        </p:nvSpPr>
        <p:spPr>
          <a:xfrm>
            <a:off x="6583680" y="2148840"/>
            <a:ext cx="4846320" cy="1691640"/>
          </a:xfrm>
          <a:prstGeom prst="rect">
            <a:avLst/>
          </a:prstGeom>
          <a:noFill/>
          <a:ln/>
        </p:spPr>
        <p:txBody>
          <a:bodyPr wrap="square" rtlCol="0" anchor="t"/>
          <a:lstStyle/>
          <a:p>
            <a:pPr marL="342900" indent="-342900">
              <a:spcAft>
                <a:spcPts val="400"/>
              </a:spcAft>
              <a:buSzPct val="100000"/>
              <a:buChar char="•"/>
            </a:pPr>
            <a:r>
              <a:rPr lang="en-US" sz="950" dirty="0">
                <a:solidFill>
                  <a:srgbClr val="FFFFFF"/>
                </a:solidFill>
              </a:rPr>
              <a:t>You currently have no Google search visibility to speak of. The API data returned no keyword rankings — meaning Zero Fluff does not appear to rank for any tracked search terms. If people are searching for what you do, you are not in the room.</a:t>
            </a:r>
            <a:endParaRPr lang="en-US" sz="950" dirty="0"/>
          </a:p>
          <a:p>
            <a:pPr marL="342900" indent="-342900">
              <a:spcAft>
                <a:spcPts val="400"/>
              </a:spcAft>
              <a:buSzPct val="100000"/>
              <a:buChar char="•"/>
            </a:pPr>
            <a:r>
              <a:rPr lang="en-US" sz="950" dirty="0">
                <a:solidFill>
                  <a:srgbClr val="FFFFFF"/>
                </a:solidFill>
              </a:rPr>
              <a:t>Your backlink profile shows 42 total links from only 26 referring domains, with a domain authority score of just 2 out of 100 and a trust score of 2. In plain English: very few other websites link to yours, and those that do carry little weight with Google. This is one of the primary reasons you're not surfacing in search results.</a:t>
            </a:r>
            <a:endParaRPr lang="en-US" sz="950" dirty="0"/>
          </a:p>
          <a:p>
            <a:pPr marL="342900" indent="-342900">
              <a:spcAft>
                <a:spcPts val="400"/>
              </a:spcAft>
              <a:buSzPct val="100000"/>
              <a:buChar char="•"/>
            </a:pPr>
            <a:r>
              <a:rPr lang="en-US" sz="950" dirty="0">
                <a:solidFill>
                  <a:srgbClr val="FFFFFF"/>
                </a:solidFill>
              </a:rPr>
              <a:t>You have no prior campaign history — no paid search, no content strategy, no PR footprint. That's not a criticism, but it does mean there is no data to learn from and no warm audience to re-engage. Everything starts from zero, which has implications for how quickly results can realistically build.</a:t>
            </a:r>
            <a:endParaRPr lang="en-US" sz="950" dirty="0"/>
          </a:p>
          <a:p>
            <a:pPr marL="342900" indent="-342900">
              <a:spcAft>
                <a:spcPts val="400"/>
              </a:spcAft>
              <a:buSzPct val="100000"/>
              <a:buChar char="•"/>
            </a:pPr>
            <a:r>
              <a:rPr lang="en-US" sz="950" dirty="0">
                <a:solidFill>
                  <a:srgbClr val="FFFFFF"/>
                </a:solidFill>
              </a:rPr>
              <a:t>With a husband-and-wife team, capacity to respond to inbound enquiries, brief prospects, and convert calls is naturally limited. Your goal of one call per week that converts to a client is achievable, but the conversion side of that equation depends on time and process on your end, not just the marketing.</a:t>
            </a:r>
            <a:endParaRPr lang="en-US" sz="950" dirty="0"/>
          </a:p>
        </p:txBody>
      </p:sp>
      <p:sp>
        <p:nvSpPr>
          <p:cNvPr id="12" name="Shape 10"/>
          <p:cNvSpPr/>
          <p:nvPr/>
        </p:nvSpPr>
        <p:spPr>
          <a:xfrm>
            <a:off x="731520" y="4114800"/>
            <a:ext cx="5212080" cy="2286000"/>
          </a:xfrm>
          <a:prstGeom prst="rect">
            <a:avLst/>
          </a:prstGeom>
          <a:solidFill>
            <a:srgbClr val="11161A"/>
          </a:solidFill>
          <a:ln w="12700">
            <a:solidFill>
              <a:srgbClr val="11161A"/>
            </a:solidFill>
            <a:prstDash val="solid"/>
          </a:ln>
        </p:spPr>
      </p:sp>
      <p:sp>
        <p:nvSpPr>
          <p:cNvPr id="13" name="Text 11"/>
          <p:cNvSpPr/>
          <p:nvPr/>
        </p:nvSpPr>
        <p:spPr>
          <a:xfrm>
            <a:off x="914400" y="4251960"/>
            <a:ext cx="4846320" cy="320040"/>
          </a:xfrm>
          <a:prstGeom prst="rect">
            <a:avLst/>
          </a:prstGeom>
          <a:noFill/>
          <a:ln/>
        </p:spPr>
        <p:txBody>
          <a:bodyPr wrap="square" rtlCol="0" anchor="ctr"/>
          <a:lstStyle/>
          <a:p>
            <a:pPr indent="0" marL="0">
              <a:buNone/>
            </a:pPr>
            <a:r>
              <a:rPr lang="en-US" sz="1100" b="1" dirty="0">
                <a:solidFill>
                  <a:srgbClr val="D6E865"/>
                </a:solidFill>
              </a:rPr>
              <a:t>Opportunities</a:t>
            </a:r>
            <a:endParaRPr lang="en-US" sz="1100" dirty="0"/>
          </a:p>
        </p:txBody>
      </p:sp>
      <p:sp>
        <p:nvSpPr>
          <p:cNvPr id="14" name="Text 12"/>
          <p:cNvSpPr/>
          <p:nvPr/>
        </p:nvSpPr>
        <p:spPr>
          <a:xfrm>
            <a:off x="914400" y="4617720"/>
            <a:ext cx="4846320" cy="1691640"/>
          </a:xfrm>
          <a:prstGeom prst="rect">
            <a:avLst/>
          </a:prstGeom>
          <a:noFill/>
          <a:ln/>
        </p:spPr>
        <p:txBody>
          <a:bodyPr wrap="square" rtlCol="0" anchor="t"/>
          <a:lstStyle/>
          <a:p>
            <a:pPr marL="342900" indent="-342900">
              <a:spcAft>
                <a:spcPts val="400"/>
              </a:spcAft>
              <a:buSzPct val="100000"/>
              <a:buChar char="•"/>
            </a:pPr>
            <a:r>
              <a:rPr lang="en-US" sz="950" dirty="0">
                <a:solidFill>
                  <a:srgbClr val="FFFFFF"/>
                </a:solidFill>
              </a:rPr>
              <a:t>The mobile SEO score of 100 means any content or search campaign you run now sits on technically sound ground — you are not fighting a broken foundation. Improvements to visibility and inbound calls can begin immediately without a site rebuild.</a:t>
            </a:r>
            <a:endParaRPr lang="en-US" sz="950" dirty="0"/>
          </a:p>
          <a:p>
            <a:pPr marL="342900" indent="-342900">
              <a:spcAft>
                <a:spcPts val="400"/>
              </a:spcAft>
              <a:buSzPct val="100000"/>
              <a:buChar char="•"/>
            </a:pPr>
            <a:r>
              <a:rPr lang="en-US" sz="950" dirty="0">
                <a:solidFill>
                  <a:srgbClr val="FFFFFF"/>
                </a:solidFill>
              </a:rPr>
              <a:t>Your desktop performance score is 99, and there are no flagged performance opportunities in the audit data. This means the site is fast and clean on desktop too — if paid or organic traffic is driven there, the experience visitors land on is strong.</a:t>
            </a:r>
            <a:endParaRPr lang="en-US" sz="950" dirty="0"/>
          </a:p>
          <a:p>
            <a:pPr marL="342900" indent="-342900">
              <a:spcAft>
                <a:spcPts val="400"/>
              </a:spcAft>
              <a:buSzPct val="100000"/>
              <a:buChar char="•"/>
            </a:pPr>
            <a:r>
              <a:rPr lang="en-US" sz="950" dirty="0">
                <a:solidFill>
                  <a:srgbClr val="FFFFFF"/>
                </a:solidFill>
              </a:rPr>
              <a:t>A focused local and niche SEO strategy — targeting searches relevant to AI consultancy, potentially with a Devon or South West geographic angle — gives you a realistic path to that one inbound call per week goal without requiring a large budget. At £5,000 you have enough to build meaningful early traction if the spend is concentrated rather than spread thin.</a:t>
            </a:r>
            <a:endParaRPr lang="en-US" sz="950" dirty="0"/>
          </a:p>
          <a:p>
            <a:pPr marL="342900" indent="-342900">
              <a:spcAft>
                <a:spcPts val="400"/>
              </a:spcAft>
              <a:buSzPct val="100000"/>
              <a:buChar char="•"/>
            </a:pPr>
            <a:r>
              <a:rPr lang="en-US" sz="950" dirty="0">
                <a:solidFill>
                  <a:srgbClr val="FFFFFF"/>
                </a:solidFill>
              </a:rPr>
              <a:t>There is no evidence of direct local competitors with strong domain authority in your specific niche. We cannot confirm this from the data provided, but the absence of established backlink competition in a narrow AI consultancy niche is typically an opening worth investigating in the first phase of work.</a:t>
            </a:r>
            <a:endParaRPr lang="en-US" sz="950" dirty="0"/>
          </a:p>
        </p:txBody>
      </p:sp>
      <p:sp>
        <p:nvSpPr>
          <p:cNvPr id="15" name="Shape 13"/>
          <p:cNvSpPr/>
          <p:nvPr/>
        </p:nvSpPr>
        <p:spPr>
          <a:xfrm>
            <a:off x="6400800" y="4114800"/>
            <a:ext cx="5212080" cy="2286000"/>
          </a:xfrm>
          <a:prstGeom prst="rect">
            <a:avLst/>
          </a:prstGeom>
          <a:solidFill>
            <a:srgbClr val="11161A"/>
          </a:solidFill>
          <a:ln w="12700">
            <a:solidFill>
              <a:srgbClr val="11161A"/>
            </a:solidFill>
            <a:prstDash val="solid"/>
          </a:ln>
        </p:spPr>
      </p:sp>
      <p:sp>
        <p:nvSpPr>
          <p:cNvPr id="16" name="Text 14"/>
          <p:cNvSpPr/>
          <p:nvPr/>
        </p:nvSpPr>
        <p:spPr>
          <a:xfrm>
            <a:off x="6583680" y="4251960"/>
            <a:ext cx="4846320" cy="320040"/>
          </a:xfrm>
          <a:prstGeom prst="rect">
            <a:avLst/>
          </a:prstGeom>
          <a:noFill/>
          <a:ln/>
        </p:spPr>
        <p:txBody>
          <a:bodyPr wrap="square" rtlCol="0" anchor="ctr"/>
          <a:lstStyle/>
          <a:p>
            <a:pPr indent="0" marL="0">
              <a:buNone/>
            </a:pPr>
            <a:r>
              <a:rPr lang="en-US" sz="1100" b="1" dirty="0">
                <a:solidFill>
                  <a:srgbClr val="D6E865"/>
                </a:solidFill>
              </a:rPr>
              <a:t>Threats</a:t>
            </a:r>
            <a:endParaRPr lang="en-US" sz="1100" dirty="0"/>
          </a:p>
        </p:txBody>
      </p:sp>
      <p:sp>
        <p:nvSpPr>
          <p:cNvPr id="17" name="Text 15"/>
          <p:cNvSpPr/>
          <p:nvPr/>
        </p:nvSpPr>
        <p:spPr>
          <a:xfrm>
            <a:off x="6583680" y="4617720"/>
            <a:ext cx="4846320" cy="1691640"/>
          </a:xfrm>
          <a:prstGeom prst="rect">
            <a:avLst/>
          </a:prstGeom>
          <a:noFill/>
          <a:ln/>
        </p:spPr>
        <p:txBody>
          <a:bodyPr wrap="square" rtlCol="0" anchor="t"/>
          <a:lstStyle/>
          <a:p>
            <a:pPr marL="342900" indent="-342900">
              <a:spcAft>
                <a:spcPts val="400"/>
              </a:spcAft>
              <a:buSzPct val="100000"/>
              <a:buChar char="•"/>
            </a:pPr>
            <a:r>
              <a:rPr lang="en-US" sz="950" dirty="0">
                <a:solidFill>
                  <a:srgbClr val="FFFFFF"/>
                </a:solidFill>
              </a:rPr>
              <a:t>With only 8 followed backlinks and a trust score of 2, Zero Fluff is currently at the back of a very long queue in Google's eyes. Building domain authority takes time — typically months, not weeks — and a goal of one inbound call per week sets an expectation that needs to be carefully managed against that reality.</a:t>
            </a:r>
            <a:endParaRPr lang="en-US" sz="950" dirty="0"/>
          </a:p>
          <a:p>
            <a:pPr marL="342900" indent="-342900">
              <a:spcAft>
                <a:spcPts val="400"/>
              </a:spcAft>
              <a:buSzPct val="100000"/>
              <a:buChar char="•"/>
            </a:pPr>
            <a:r>
              <a:rPr lang="en-US" sz="950" dirty="0">
                <a:solidFill>
                  <a:srgbClr val="FFFFFF"/>
                </a:solidFill>
              </a:rPr>
              <a:t>Your Largest Contentful Paint on mobile is 5.0 seconds — meaning the main visible content of the page takes five seconds to fully load on a phone. Google uses this as a ranking signal, and it also affects whether a visitor stays on the page. This is the one technical area that could undermine an otherwise strong mobile score and should be addressed.</a:t>
            </a:r>
            <a:endParaRPr lang="en-US" sz="950" dirty="0"/>
          </a:p>
          <a:p>
            <a:pPr marL="342900" indent="-342900">
              <a:spcAft>
                <a:spcPts val="400"/>
              </a:spcAft>
              <a:buSzPct val="100000"/>
              <a:buChar char="•"/>
            </a:pPr>
            <a:r>
              <a:rPr lang="en-US" sz="950" dirty="0">
                <a:solidFill>
                  <a:srgbClr val="FFFFFF"/>
                </a:solidFill>
              </a:rPr>
              <a:t>A £5,000 budget (ex VAT, we assume) is workable but not generous for a standing start with no existing rankings, no backlink authority, and no campaign history. Scope needs to be tightly prioritised — trying to do SEO, content, paid search, and brand work simultaneously at this budget would spread it too thin to see results.</a:t>
            </a:r>
            <a:endParaRPr lang="en-US" sz="950" dirty="0"/>
          </a:p>
          <a:p>
            <a:pPr marL="342900" indent="-342900">
              <a:spcAft>
                <a:spcPts val="400"/>
              </a:spcAft>
              <a:buSzPct val="100000"/>
              <a:buChar char="•"/>
            </a:pPr>
            <a:r>
              <a:rPr lang="en-US" sz="950" dirty="0">
                <a:solidFill>
                  <a:srgbClr val="FFFFFF"/>
                </a:solidFill>
              </a:rPr>
              <a:t>As a very small team, if inbound calls do increase, there is a real risk of enquiries going unanswered or prospects going cold during busy delivery periods. The marketing can generate the opportunity, but the conversion depends on Zero Fluff having a simple, reliable process for picking up and following up on every call — something worth building in from the start.</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61C21"/>
        </a:solidFill>
      </p:bgPr>
    </p:bg>
    <p:spTree>
      <p:nvGrpSpPr>
        <p:cNvPr id="1" name=""/>
        <p:cNvGrpSpPr/>
        <p:nvPr/>
      </p:nvGrpSpPr>
      <p:grpSpPr>
        <a:xfrm>
          <a:off x="0" y="0"/>
          <a:ext cx="0" cy="0"/>
          <a:chOff x="0" y="0"/>
          <a:chExt cx="0" cy="0"/>
        </a:xfrm>
      </p:grpSpPr>
      <p:sp>
        <p:nvSpPr>
          <p:cNvPr id="2" name="Text 0"/>
          <p:cNvSpPr/>
          <p:nvPr/>
        </p:nvSpPr>
        <p:spPr>
          <a:xfrm>
            <a:off x="457200" y="6455664"/>
            <a:ext cx="8229600" cy="292608"/>
          </a:xfrm>
          <a:prstGeom prst="rect">
            <a:avLst/>
          </a:prstGeom>
          <a:noFill/>
          <a:ln/>
        </p:spPr>
        <p:txBody>
          <a:bodyPr wrap="square" rtlCol="0" anchor="ctr"/>
          <a:lstStyle/>
          <a:p>
            <a:pPr indent="0" marL="0">
              <a:buNone/>
            </a:pPr>
            <a:r>
              <a:rPr lang="en-US" sz="850" dirty="0">
                <a:solidFill>
                  <a:srgbClr val="FFFFFF">
                    <a:alpha val="45000"/>
                  </a:srgbClr>
                </a:solidFill>
              </a:rPr>
              <a:t>7 July 2026 · Zero Fluff Proposal</a:t>
            </a:r>
            <a:endParaRPr lang="en-US" sz="850" dirty="0"/>
          </a:p>
        </p:txBody>
      </p:sp>
      <p:sp>
        <p:nvSpPr>
          <p:cNvPr id="3" name="Text 1"/>
          <p:cNvSpPr/>
          <p:nvPr/>
        </p:nvSpPr>
        <p:spPr>
          <a:xfrm>
            <a:off x="9875520" y="6455664"/>
            <a:ext cx="1828800" cy="292608"/>
          </a:xfrm>
          <a:prstGeom prst="rect">
            <a:avLst/>
          </a:prstGeom>
          <a:noFill/>
          <a:ln/>
        </p:spPr>
        <p:txBody>
          <a:bodyPr wrap="square" rtlCol="0" anchor="ctr"/>
          <a:lstStyle/>
          <a:p>
            <a:pPr algn="r" indent="0" marL="0">
              <a:buNone/>
            </a:pPr>
            <a:r>
              <a:rPr lang="en-US" sz="850" b="1" dirty="0">
                <a:solidFill>
                  <a:srgbClr val="FFFFFF">
                    <a:alpha val="60000"/>
                  </a:srgbClr>
                </a:solidFill>
              </a:rPr>
              <a:t>Chalk &amp; Ward</a:t>
            </a:r>
            <a:endParaRPr lang="en-US" sz="850" dirty="0"/>
          </a:p>
        </p:txBody>
      </p:sp>
      <p:sp>
        <p:nvSpPr>
          <p:cNvPr id="4" name="Text 2"/>
          <p:cNvSpPr/>
          <p:nvPr/>
        </p:nvSpPr>
        <p:spPr>
          <a:xfrm>
            <a:off x="731520" y="1920240"/>
            <a:ext cx="2743200" cy="1371600"/>
          </a:xfrm>
          <a:prstGeom prst="rect">
            <a:avLst/>
          </a:prstGeom>
          <a:noFill/>
          <a:ln/>
        </p:spPr>
        <p:txBody>
          <a:bodyPr wrap="square" rtlCol="0" anchor="ctr"/>
          <a:lstStyle/>
          <a:p>
            <a:pPr indent="0" marL="0">
              <a:buNone/>
            </a:pPr>
            <a:r>
              <a:rPr lang="en-US" sz="8000" b="1" dirty="0">
                <a:solidFill>
                  <a:srgbClr val="D6E865"/>
                </a:solidFill>
              </a:rPr>
              <a:t>02</a:t>
            </a:r>
            <a:endParaRPr lang="en-US" sz="8000" dirty="0"/>
          </a:p>
        </p:txBody>
      </p:sp>
      <p:sp>
        <p:nvSpPr>
          <p:cNvPr id="5" name="Text 3"/>
          <p:cNvSpPr/>
          <p:nvPr/>
        </p:nvSpPr>
        <p:spPr>
          <a:xfrm>
            <a:off x="777240" y="3383280"/>
            <a:ext cx="10058400" cy="914400"/>
          </a:xfrm>
          <a:prstGeom prst="rect">
            <a:avLst/>
          </a:prstGeom>
          <a:noFill/>
          <a:ln/>
        </p:spPr>
        <p:txBody>
          <a:bodyPr wrap="square" rtlCol="0" anchor="ctr"/>
          <a:lstStyle/>
          <a:p>
            <a:pPr indent="0" marL="0">
              <a:buNone/>
            </a:pPr>
            <a:r>
              <a:rPr lang="en-US" sz="3400" b="1" dirty="0">
                <a:solidFill>
                  <a:srgbClr val="FFFFFF"/>
                </a:solidFill>
              </a:rPr>
              <a:t>Response to the brief</a:t>
            </a:r>
            <a:endParaRPr lang="en-US" sz="3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61C21"/>
        </a:solidFill>
      </p:bgPr>
    </p:bg>
    <p:spTree>
      <p:nvGrpSpPr>
        <p:cNvPr id="1" name=""/>
        <p:cNvGrpSpPr/>
        <p:nvPr/>
      </p:nvGrpSpPr>
      <p:grpSpPr>
        <a:xfrm>
          <a:off x="0" y="0"/>
          <a:ext cx="0" cy="0"/>
          <a:chOff x="0" y="0"/>
          <a:chExt cx="0" cy="0"/>
        </a:xfrm>
      </p:grpSpPr>
      <p:sp>
        <p:nvSpPr>
          <p:cNvPr id="2" name="Text 0"/>
          <p:cNvSpPr/>
          <p:nvPr/>
        </p:nvSpPr>
        <p:spPr>
          <a:xfrm>
            <a:off x="457200" y="6455664"/>
            <a:ext cx="8229600" cy="292608"/>
          </a:xfrm>
          <a:prstGeom prst="rect">
            <a:avLst/>
          </a:prstGeom>
          <a:noFill/>
          <a:ln/>
        </p:spPr>
        <p:txBody>
          <a:bodyPr wrap="square" rtlCol="0" anchor="ctr"/>
          <a:lstStyle/>
          <a:p>
            <a:pPr indent="0" marL="0">
              <a:buNone/>
            </a:pPr>
            <a:r>
              <a:rPr lang="en-US" sz="850" dirty="0">
                <a:solidFill>
                  <a:srgbClr val="FFFFFF">
                    <a:alpha val="45000"/>
                  </a:srgbClr>
                </a:solidFill>
              </a:rPr>
              <a:t>7 July 2026 · Zero Fluff Proposal</a:t>
            </a:r>
            <a:endParaRPr lang="en-US" sz="850" dirty="0"/>
          </a:p>
        </p:txBody>
      </p:sp>
      <p:sp>
        <p:nvSpPr>
          <p:cNvPr id="3" name="Text 1"/>
          <p:cNvSpPr/>
          <p:nvPr/>
        </p:nvSpPr>
        <p:spPr>
          <a:xfrm>
            <a:off x="9875520" y="6455664"/>
            <a:ext cx="1828800" cy="292608"/>
          </a:xfrm>
          <a:prstGeom prst="rect">
            <a:avLst/>
          </a:prstGeom>
          <a:noFill/>
          <a:ln/>
        </p:spPr>
        <p:txBody>
          <a:bodyPr wrap="square" rtlCol="0" anchor="ctr"/>
          <a:lstStyle/>
          <a:p>
            <a:pPr algn="r" indent="0" marL="0">
              <a:buNone/>
            </a:pPr>
            <a:r>
              <a:rPr lang="en-US" sz="850" b="1" dirty="0">
                <a:solidFill>
                  <a:srgbClr val="FFFFFF">
                    <a:alpha val="60000"/>
                  </a:srgbClr>
                </a:solidFill>
              </a:rPr>
              <a:t>Chalk &amp; Ward</a:t>
            </a:r>
            <a:endParaRPr lang="en-US" sz="850" dirty="0"/>
          </a:p>
        </p:txBody>
      </p:sp>
      <p:sp>
        <p:nvSpPr>
          <p:cNvPr id="4" name="Text 2"/>
          <p:cNvSpPr/>
          <p:nvPr/>
        </p:nvSpPr>
        <p:spPr>
          <a:xfrm>
            <a:off x="731520" y="411480"/>
            <a:ext cx="10058400" cy="320040"/>
          </a:xfrm>
          <a:prstGeom prst="rect">
            <a:avLst/>
          </a:prstGeom>
          <a:noFill/>
          <a:ln/>
        </p:spPr>
        <p:txBody>
          <a:bodyPr wrap="square" rtlCol="0" anchor="ctr"/>
          <a:lstStyle/>
          <a:p>
            <a:pPr indent="0" marL="0">
              <a:buNone/>
            </a:pPr>
            <a:r>
              <a:rPr lang="en-US" sz="1100" b="1" spc="400" kern="0" dirty="0">
                <a:solidFill>
                  <a:srgbClr val="D6E865"/>
                </a:solidFill>
              </a:rPr>
              <a:t>RESPONSE TO THE BRIEF</a:t>
            </a:r>
            <a:endParaRPr lang="en-US" sz="1100" dirty="0"/>
          </a:p>
        </p:txBody>
      </p:sp>
      <p:sp>
        <p:nvSpPr>
          <p:cNvPr id="5" name="Text 3"/>
          <p:cNvSpPr/>
          <p:nvPr/>
        </p:nvSpPr>
        <p:spPr>
          <a:xfrm>
            <a:off x="731520" y="777240"/>
            <a:ext cx="10698480" cy="640080"/>
          </a:xfrm>
          <a:prstGeom prst="rect">
            <a:avLst/>
          </a:prstGeom>
          <a:noFill/>
          <a:ln/>
        </p:spPr>
        <p:txBody>
          <a:bodyPr wrap="square" rtlCol="0" anchor="ctr"/>
          <a:lstStyle/>
          <a:p>
            <a:pPr indent="0" marL="0">
              <a:buNone/>
            </a:pPr>
            <a:r>
              <a:rPr lang="en-US" sz="2600" b="1" dirty="0">
                <a:solidFill>
                  <a:srgbClr val="FFFFFF"/>
                </a:solidFill>
              </a:rPr>
              <a:t>What we recommend</a:t>
            </a:r>
            <a:endParaRPr lang="en-US" sz="2600" dirty="0"/>
          </a:p>
        </p:txBody>
      </p:sp>
      <p:sp>
        <p:nvSpPr>
          <p:cNvPr id="6" name="Text 4"/>
          <p:cNvSpPr/>
          <p:nvPr/>
        </p:nvSpPr>
        <p:spPr>
          <a:xfrm>
            <a:off x="731520" y="1645920"/>
            <a:ext cx="10698480" cy="1097280"/>
          </a:xfrm>
          <a:prstGeom prst="rect">
            <a:avLst/>
          </a:prstGeom>
          <a:noFill/>
          <a:ln/>
        </p:spPr>
        <p:txBody>
          <a:bodyPr wrap="square" rtlCol="0" anchor="t"/>
          <a:lstStyle/>
          <a:p>
            <a:pPr indent="0" marL="0">
              <a:buNone/>
            </a:pPr>
            <a:r>
              <a:rPr lang="en-US" sz="1250" dirty="0">
                <a:solidFill>
                  <a:srgbClr val="FFFFFF"/>
                </a:solidFill>
              </a:rPr>
              <a:t>From our list of services, we've identified the following are needed for Zero Fluff. The work runs in sequence deliberately: we need to understand your business and how your brand sits in the market before we touch any design, and the design needs to be settled before we talk about rolling anything out. Given you told us the name Zero Fluff itself signals exactly what you're about — clarity, no nonsense, straight-talking AI expertise — there is real brand equity already in place. The job is to sharpen and codify it, not reinvent it.</a:t>
            </a:r>
            <a:endParaRPr lang="en-US" sz="1250" dirty="0"/>
          </a:p>
        </p:txBody>
      </p:sp>
      <p:sp>
        <p:nvSpPr>
          <p:cNvPr id="7" name="Text 5"/>
          <p:cNvSpPr/>
          <p:nvPr/>
        </p:nvSpPr>
        <p:spPr>
          <a:xfrm>
            <a:off x="731520" y="2926080"/>
            <a:ext cx="10698480" cy="3017520"/>
          </a:xfrm>
          <a:prstGeom prst="rect">
            <a:avLst/>
          </a:prstGeom>
          <a:noFill/>
          <a:ln/>
        </p:spPr>
        <p:txBody>
          <a:bodyPr wrap="square" rtlCol="0" anchor="t"/>
          <a:lstStyle/>
          <a:p>
            <a:pPr indent="0" marL="0">
              <a:spcAft>
                <a:spcPts val="1000"/>
              </a:spcAft>
              <a:buNone/>
            </a:pPr>
            <a:r>
              <a:rPr lang="en-US" sz="1500" b="1" dirty="0">
                <a:solidFill>
                  <a:srgbClr val="D6E865"/>
                </a:solidFill>
              </a:rPr>
              <a:t>1. Briefing session &amp; brand audit</a:t>
            </a:r>
            <a:endParaRPr lang="en-US" sz="1500" dirty="0"/>
          </a:p>
          <a:p>
            <a:pPr indent="0" marL="0">
              <a:spcAft>
                <a:spcPts val="1000"/>
              </a:spcAft>
              <a:buNone/>
            </a:pPr>
            <a:r>
              <a:rPr lang="en-US" sz="1500" b="1" dirty="0">
                <a:solidFill>
                  <a:srgbClr val="D6E865"/>
                </a:solidFill>
              </a:rPr>
              <a:t>2. Core Values development</a:t>
            </a:r>
            <a:endParaRPr lang="en-US" sz="1500" dirty="0"/>
          </a:p>
          <a:p>
            <a:pPr indent="0" marL="0">
              <a:spcAft>
                <a:spcPts val="1000"/>
              </a:spcAft>
              <a:buNone/>
            </a:pPr>
            <a:r>
              <a:rPr lang="en-US" sz="1500" b="1" dirty="0">
                <a:solidFill>
                  <a:srgbClr val="D6E865"/>
                </a:solidFill>
              </a:rPr>
              <a:t>3. Tone of voice  (optional)</a:t>
            </a:r>
            <a:endParaRPr lang="en-US" sz="1500" dirty="0"/>
          </a:p>
          <a:p>
            <a:pPr indent="0" marL="0">
              <a:spcAft>
                <a:spcPts val="1000"/>
              </a:spcAft>
              <a:buNone/>
            </a:pPr>
            <a:r>
              <a:rPr lang="en-US" sz="1500" b="1" dirty="0">
                <a:solidFill>
                  <a:srgbClr val="D6E865"/>
                </a:solidFill>
              </a:rPr>
              <a:t>4. Design style &amp; brand guidelines</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61C21"/>
        </a:solidFill>
      </p:bgPr>
    </p:bg>
    <p:spTree>
      <p:nvGrpSpPr>
        <p:cNvPr id="1" name=""/>
        <p:cNvGrpSpPr/>
        <p:nvPr/>
      </p:nvGrpSpPr>
      <p:grpSpPr>
        <a:xfrm>
          <a:off x="0" y="0"/>
          <a:ext cx="0" cy="0"/>
          <a:chOff x="0" y="0"/>
          <a:chExt cx="0" cy="0"/>
        </a:xfrm>
      </p:grpSpPr>
      <p:sp>
        <p:nvSpPr>
          <p:cNvPr id="2" name="Text 0"/>
          <p:cNvSpPr/>
          <p:nvPr/>
        </p:nvSpPr>
        <p:spPr>
          <a:xfrm>
            <a:off x="457200" y="6455664"/>
            <a:ext cx="8229600" cy="292608"/>
          </a:xfrm>
          <a:prstGeom prst="rect">
            <a:avLst/>
          </a:prstGeom>
          <a:noFill/>
          <a:ln/>
        </p:spPr>
        <p:txBody>
          <a:bodyPr wrap="square" rtlCol="0" anchor="ctr"/>
          <a:lstStyle/>
          <a:p>
            <a:pPr indent="0" marL="0">
              <a:buNone/>
            </a:pPr>
            <a:r>
              <a:rPr lang="en-US" sz="850" dirty="0">
                <a:solidFill>
                  <a:srgbClr val="FFFFFF">
                    <a:alpha val="45000"/>
                  </a:srgbClr>
                </a:solidFill>
              </a:rPr>
              <a:t>7 July 2026 · Zero Fluff Proposal</a:t>
            </a:r>
            <a:endParaRPr lang="en-US" sz="850" dirty="0"/>
          </a:p>
        </p:txBody>
      </p:sp>
      <p:sp>
        <p:nvSpPr>
          <p:cNvPr id="3" name="Text 1"/>
          <p:cNvSpPr/>
          <p:nvPr/>
        </p:nvSpPr>
        <p:spPr>
          <a:xfrm>
            <a:off x="9875520" y="6455664"/>
            <a:ext cx="1828800" cy="292608"/>
          </a:xfrm>
          <a:prstGeom prst="rect">
            <a:avLst/>
          </a:prstGeom>
          <a:noFill/>
          <a:ln/>
        </p:spPr>
        <p:txBody>
          <a:bodyPr wrap="square" rtlCol="0" anchor="ctr"/>
          <a:lstStyle/>
          <a:p>
            <a:pPr algn="r" indent="0" marL="0">
              <a:buNone/>
            </a:pPr>
            <a:r>
              <a:rPr lang="en-US" sz="850" b="1" dirty="0">
                <a:solidFill>
                  <a:srgbClr val="FFFFFF">
                    <a:alpha val="60000"/>
                  </a:srgbClr>
                </a:solidFill>
              </a:rPr>
              <a:t>Chalk &amp; Ward</a:t>
            </a:r>
            <a:endParaRPr lang="en-US" sz="850" dirty="0"/>
          </a:p>
        </p:txBody>
      </p:sp>
      <p:sp>
        <p:nvSpPr>
          <p:cNvPr id="4" name="Text 2"/>
          <p:cNvSpPr/>
          <p:nvPr/>
        </p:nvSpPr>
        <p:spPr>
          <a:xfrm>
            <a:off x="731520" y="411480"/>
            <a:ext cx="10058400" cy="320040"/>
          </a:xfrm>
          <a:prstGeom prst="rect">
            <a:avLst/>
          </a:prstGeom>
          <a:noFill/>
          <a:ln/>
        </p:spPr>
        <p:txBody>
          <a:bodyPr wrap="square" rtlCol="0" anchor="ctr"/>
          <a:lstStyle/>
          <a:p>
            <a:pPr indent="0" marL="0">
              <a:buNone/>
            </a:pPr>
            <a:r>
              <a:rPr lang="en-US" sz="1100" b="1" spc="400" kern="0" dirty="0">
                <a:solidFill>
                  <a:srgbClr val="D6E865"/>
                </a:solidFill>
              </a:rPr>
              <a:t>WORKSTREAM 1</a:t>
            </a:r>
            <a:endParaRPr lang="en-US" sz="1100" dirty="0"/>
          </a:p>
        </p:txBody>
      </p:sp>
      <p:sp>
        <p:nvSpPr>
          <p:cNvPr id="5" name="Text 3"/>
          <p:cNvSpPr/>
          <p:nvPr/>
        </p:nvSpPr>
        <p:spPr>
          <a:xfrm>
            <a:off x="731520" y="777240"/>
            <a:ext cx="10698480" cy="640080"/>
          </a:xfrm>
          <a:prstGeom prst="rect">
            <a:avLst/>
          </a:prstGeom>
          <a:noFill/>
          <a:ln/>
        </p:spPr>
        <p:txBody>
          <a:bodyPr wrap="square" rtlCol="0" anchor="ctr"/>
          <a:lstStyle/>
          <a:p>
            <a:pPr indent="0" marL="0">
              <a:buNone/>
            </a:pPr>
            <a:r>
              <a:rPr lang="en-US" sz="2600" b="1" dirty="0">
                <a:solidFill>
                  <a:srgbClr val="FFFFFF"/>
                </a:solidFill>
              </a:rPr>
              <a:t>Briefing session &amp; brand audit</a:t>
            </a:r>
            <a:endParaRPr lang="en-US" sz="2600" dirty="0"/>
          </a:p>
        </p:txBody>
      </p:sp>
      <p:sp>
        <p:nvSpPr>
          <p:cNvPr id="6" name="Text 4"/>
          <p:cNvSpPr/>
          <p:nvPr/>
        </p:nvSpPr>
        <p:spPr>
          <a:xfrm>
            <a:off x="731520" y="1691640"/>
            <a:ext cx="10698480" cy="1463040"/>
          </a:xfrm>
          <a:prstGeom prst="rect">
            <a:avLst/>
          </a:prstGeom>
          <a:noFill/>
          <a:ln/>
        </p:spPr>
        <p:txBody>
          <a:bodyPr wrap="square" rtlCol="0" anchor="t"/>
          <a:lstStyle/>
          <a:p>
            <a:pPr indent="0" marL="0">
              <a:buNone/>
            </a:pPr>
            <a:r>
              <a:rPr lang="en-US" sz="1200" dirty="0">
                <a:solidFill>
                  <a:srgbClr val="FFFFFF"/>
                </a:solidFill>
              </a:rPr>
              <a:t>You have no prior campaign history and no established brand collateral, which means we are genuinely starting from scratch in terms of understanding how Zero Fluff presents itself and to whom. Before we make any recommendations — on design, tone, messaging, or anything else — we need to sit with you properly, hear the story behind the business, understand who your ideal client is, and look honestly at how the brand is currently used across the website and any other touchpoints. A short Teams call isn't enough for that. We want to come to Totnes.</a:t>
            </a:r>
            <a:endParaRPr lang="en-US" sz="1200" dirty="0"/>
          </a:p>
        </p:txBody>
      </p:sp>
      <p:sp>
        <p:nvSpPr>
          <p:cNvPr id="7" name="Text 5"/>
          <p:cNvSpPr/>
          <p:nvPr/>
        </p:nvSpPr>
        <p:spPr>
          <a:xfrm>
            <a:off x="731520" y="3246120"/>
            <a:ext cx="10698480" cy="2377440"/>
          </a:xfrm>
          <a:prstGeom prst="rect">
            <a:avLst/>
          </a:prstGeom>
          <a:noFill/>
          <a:ln/>
        </p:spPr>
        <p:txBody>
          <a:bodyPr wrap="square" rtlCol="0" anchor="t"/>
          <a:lstStyle/>
          <a:p>
            <a:pPr marL="342900" indent="-342900">
              <a:spcAft>
                <a:spcPts val="600"/>
              </a:spcAft>
              <a:buSzPct val="100000"/>
              <a:buChar char="•"/>
            </a:pPr>
            <a:r>
              <a:rPr lang="en-US" sz="1100" dirty="0">
                <a:solidFill>
                  <a:srgbClr val="FFFFFF">
                    <a:alpha val="88000"/>
                  </a:srgbClr>
                </a:solidFill>
              </a:rPr>
              <a:t>Deep-dive into the Zero Fluff story — where you've come from, where you're going, and why now</a:t>
            </a:r>
            <a:endParaRPr lang="en-US" sz="1100" dirty="0"/>
          </a:p>
          <a:p>
            <a:pPr marL="342900" indent="-342900">
              <a:spcAft>
                <a:spcPts val="600"/>
              </a:spcAft>
              <a:buSzPct val="100000"/>
              <a:buChar char="•"/>
            </a:pPr>
            <a:r>
              <a:rPr lang="en-US" sz="1100" dirty="0">
                <a:solidFill>
                  <a:srgbClr val="FFFFFF">
                    <a:alpha val="88000"/>
                  </a:srgbClr>
                </a:solidFill>
              </a:rPr>
              <a:t>Review of your current website, any existing brand materials, and how the brand is expressed day-to-day</a:t>
            </a:r>
            <a:endParaRPr lang="en-US" sz="1100" dirty="0"/>
          </a:p>
          <a:p>
            <a:pPr marL="342900" indent="-342900">
              <a:spcAft>
                <a:spcPts val="600"/>
              </a:spcAft>
              <a:buSzPct val="100000"/>
              <a:buChar char="•"/>
            </a:pPr>
            <a:r>
              <a:rPr lang="en-US" sz="1100" dirty="0">
                <a:solidFill>
                  <a:srgbClr val="FFFFFF">
                    <a:alpha val="88000"/>
                  </a:srgbClr>
                </a:solidFill>
              </a:rPr>
              <a:t>Discussion of your target clients — who they are, what they're searching for, what makes them pick up the phone</a:t>
            </a:r>
            <a:endParaRPr lang="en-US" sz="1100" dirty="0"/>
          </a:p>
          <a:p>
            <a:pPr marL="342900" indent="-342900">
              <a:spcAft>
                <a:spcPts val="600"/>
              </a:spcAft>
              <a:buSzPct val="100000"/>
              <a:buChar char="•"/>
            </a:pPr>
            <a:r>
              <a:rPr lang="en-US" sz="1100" dirty="0">
                <a:solidFill>
                  <a:srgbClr val="FFFFFF">
                    <a:alpha val="88000"/>
                  </a:srgbClr>
                </a:solidFill>
              </a:rPr>
              <a:t>Competitor review — who else is operating in the AI consultancy space, particularly in the South West, and how they position themselves</a:t>
            </a:r>
            <a:endParaRPr lang="en-US" sz="1100" dirty="0"/>
          </a:p>
          <a:p>
            <a:pPr marL="342900" indent="-342900">
              <a:spcAft>
                <a:spcPts val="600"/>
              </a:spcAft>
              <a:buSzPct val="100000"/>
              <a:buChar char="•"/>
            </a:pPr>
            <a:r>
              <a:rPr lang="en-US" sz="1100" dirty="0">
                <a:solidFill>
                  <a:srgbClr val="FFFFFF">
                    <a:alpha val="88000"/>
                  </a:srgbClr>
                </a:solidFill>
              </a:rPr>
              <a:t>Agreement on what must stay (the name, the clarity-of-purpose positioning) and what is open to development</a:t>
            </a:r>
            <a:endParaRPr lang="en-US" sz="1100" dirty="0"/>
          </a:p>
          <a:p>
            <a:pPr marL="342900" indent="-342900">
              <a:spcAft>
                <a:spcPts val="600"/>
              </a:spcAft>
              <a:buSzPct val="100000"/>
              <a:buChar char="•"/>
            </a:pPr>
            <a:r>
              <a:rPr lang="en-US" sz="1100" dirty="0">
                <a:solidFill>
                  <a:srgbClr val="FFFFFF">
                    <a:alpha val="88000"/>
                  </a:srgbClr>
                </a:solidFill>
              </a:rPr>
              <a:t>Agree date and agenda for the Core Values session</a:t>
            </a:r>
            <a:endParaRPr lang="en-US" sz="1100" dirty="0"/>
          </a:p>
        </p:txBody>
      </p:sp>
      <p:sp>
        <p:nvSpPr>
          <p:cNvPr id="8" name="Text 6"/>
          <p:cNvSpPr/>
          <p:nvPr/>
        </p:nvSpPr>
        <p:spPr>
          <a:xfrm>
            <a:off x="731520" y="5715000"/>
            <a:ext cx="10698480" cy="411480"/>
          </a:xfrm>
          <a:prstGeom prst="rect">
            <a:avLst/>
          </a:prstGeom>
          <a:noFill/>
          <a:ln/>
        </p:spPr>
        <p:txBody>
          <a:bodyPr wrap="square" rtlCol="0" anchor="ctr"/>
          <a:lstStyle/>
          <a:p>
            <a:pPr indent="0" marL="0">
              <a:buNone/>
            </a:pPr>
            <a:r>
              <a:rPr lang="en-US" sz="1100" i="1" dirty="0">
                <a:solidFill>
                  <a:srgbClr val="D6E865"/>
                </a:solidFill>
              </a:rPr>
              <a:t>◷  A half-day session, face-to-face, ideally at your offices in Totnes. We find being on your patch gives us a far better feel for the business than any video call can.</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61C21"/>
        </a:solidFill>
      </p:bgPr>
    </p:bg>
    <p:spTree>
      <p:nvGrpSpPr>
        <p:cNvPr id="1" name=""/>
        <p:cNvGrpSpPr/>
        <p:nvPr/>
      </p:nvGrpSpPr>
      <p:grpSpPr>
        <a:xfrm>
          <a:off x="0" y="0"/>
          <a:ext cx="0" cy="0"/>
          <a:chOff x="0" y="0"/>
          <a:chExt cx="0" cy="0"/>
        </a:xfrm>
      </p:grpSpPr>
      <p:sp>
        <p:nvSpPr>
          <p:cNvPr id="2" name="Text 0"/>
          <p:cNvSpPr/>
          <p:nvPr/>
        </p:nvSpPr>
        <p:spPr>
          <a:xfrm>
            <a:off x="457200" y="6455664"/>
            <a:ext cx="8229600" cy="292608"/>
          </a:xfrm>
          <a:prstGeom prst="rect">
            <a:avLst/>
          </a:prstGeom>
          <a:noFill/>
          <a:ln/>
        </p:spPr>
        <p:txBody>
          <a:bodyPr wrap="square" rtlCol="0" anchor="ctr"/>
          <a:lstStyle/>
          <a:p>
            <a:pPr indent="0" marL="0">
              <a:buNone/>
            </a:pPr>
            <a:r>
              <a:rPr lang="en-US" sz="850" dirty="0">
                <a:solidFill>
                  <a:srgbClr val="FFFFFF">
                    <a:alpha val="45000"/>
                  </a:srgbClr>
                </a:solidFill>
              </a:rPr>
              <a:t>7 July 2026 · Zero Fluff Proposal</a:t>
            </a:r>
            <a:endParaRPr lang="en-US" sz="850" dirty="0"/>
          </a:p>
        </p:txBody>
      </p:sp>
      <p:sp>
        <p:nvSpPr>
          <p:cNvPr id="3" name="Text 1"/>
          <p:cNvSpPr/>
          <p:nvPr/>
        </p:nvSpPr>
        <p:spPr>
          <a:xfrm>
            <a:off x="9875520" y="6455664"/>
            <a:ext cx="1828800" cy="292608"/>
          </a:xfrm>
          <a:prstGeom prst="rect">
            <a:avLst/>
          </a:prstGeom>
          <a:noFill/>
          <a:ln/>
        </p:spPr>
        <p:txBody>
          <a:bodyPr wrap="square" rtlCol="0" anchor="ctr"/>
          <a:lstStyle/>
          <a:p>
            <a:pPr algn="r" indent="0" marL="0">
              <a:buNone/>
            </a:pPr>
            <a:r>
              <a:rPr lang="en-US" sz="850" b="1" dirty="0">
                <a:solidFill>
                  <a:srgbClr val="FFFFFF">
                    <a:alpha val="60000"/>
                  </a:srgbClr>
                </a:solidFill>
              </a:rPr>
              <a:t>Chalk &amp; Ward</a:t>
            </a:r>
            <a:endParaRPr lang="en-US" sz="850" dirty="0"/>
          </a:p>
        </p:txBody>
      </p:sp>
      <p:sp>
        <p:nvSpPr>
          <p:cNvPr id="4" name="Text 2"/>
          <p:cNvSpPr/>
          <p:nvPr/>
        </p:nvSpPr>
        <p:spPr>
          <a:xfrm>
            <a:off x="731520" y="411480"/>
            <a:ext cx="10058400" cy="320040"/>
          </a:xfrm>
          <a:prstGeom prst="rect">
            <a:avLst/>
          </a:prstGeom>
          <a:noFill/>
          <a:ln/>
        </p:spPr>
        <p:txBody>
          <a:bodyPr wrap="square" rtlCol="0" anchor="ctr"/>
          <a:lstStyle/>
          <a:p>
            <a:pPr indent="0" marL="0">
              <a:buNone/>
            </a:pPr>
            <a:r>
              <a:rPr lang="en-US" sz="1100" b="1" spc="400" kern="0" dirty="0">
                <a:solidFill>
                  <a:srgbClr val="D6E865"/>
                </a:solidFill>
              </a:rPr>
              <a:t>WORKSTREAM 2</a:t>
            </a:r>
            <a:endParaRPr lang="en-US" sz="1100" dirty="0"/>
          </a:p>
        </p:txBody>
      </p:sp>
      <p:sp>
        <p:nvSpPr>
          <p:cNvPr id="5" name="Text 3"/>
          <p:cNvSpPr/>
          <p:nvPr/>
        </p:nvSpPr>
        <p:spPr>
          <a:xfrm>
            <a:off x="731520" y="777240"/>
            <a:ext cx="10698480" cy="640080"/>
          </a:xfrm>
          <a:prstGeom prst="rect">
            <a:avLst/>
          </a:prstGeom>
          <a:noFill/>
          <a:ln/>
        </p:spPr>
        <p:txBody>
          <a:bodyPr wrap="square" rtlCol="0" anchor="ctr"/>
          <a:lstStyle/>
          <a:p>
            <a:pPr indent="0" marL="0">
              <a:buNone/>
            </a:pPr>
            <a:r>
              <a:rPr lang="en-US" sz="2600" b="1" dirty="0">
                <a:solidFill>
                  <a:srgbClr val="FFFFFF"/>
                </a:solidFill>
              </a:rPr>
              <a:t>Core Values development</a:t>
            </a:r>
            <a:endParaRPr lang="en-US" sz="2600" dirty="0"/>
          </a:p>
        </p:txBody>
      </p:sp>
      <p:sp>
        <p:nvSpPr>
          <p:cNvPr id="6" name="Text 4"/>
          <p:cNvSpPr/>
          <p:nvPr/>
        </p:nvSpPr>
        <p:spPr>
          <a:xfrm>
            <a:off x="731520" y="1691640"/>
            <a:ext cx="10698480" cy="1463040"/>
          </a:xfrm>
          <a:prstGeom prst="rect">
            <a:avLst/>
          </a:prstGeom>
          <a:noFill/>
          <a:ln/>
        </p:spPr>
        <p:txBody>
          <a:bodyPr wrap="square" rtlCol="0" anchor="t"/>
          <a:lstStyle/>
          <a:p>
            <a:pPr indent="0" marL="0">
              <a:buNone/>
            </a:pPr>
            <a:r>
              <a:rPr lang="en-US" sz="1200" dirty="0">
                <a:solidFill>
                  <a:srgbClr val="FFFFFF"/>
                </a:solidFill>
              </a:rPr>
              <a:t>You are a two-person business, which means the brand is — right now — entirely carried in your heads. That works fine until you need to write a web page, brief a copywriter, or explain to a prospect why they should choose you over a larger firm. Core Values give you a foundation that makes every one of those things easier and more consistent. The name 'Zero Fluff' already tells us something important about what you stand for: directness, substance, no waffle. Our job in this session is to formalise that instinct into 2–3 values that are Relevant to your clients, Different from your competitors, and genuinely Deliverable by a two-person team.</a:t>
            </a:r>
            <a:endParaRPr lang="en-US" sz="1200" dirty="0"/>
          </a:p>
        </p:txBody>
      </p:sp>
      <p:sp>
        <p:nvSpPr>
          <p:cNvPr id="7" name="Text 5"/>
          <p:cNvSpPr/>
          <p:nvPr/>
        </p:nvSpPr>
        <p:spPr>
          <a:xfrm>
            <a:off x="731520" y="3246120"/>
            <a:ext cx="10698480" cy="2377440"/>
          </a:xfrm>
          <a:prstGeom prst="rect">
            <a:avLst/>
          </a:prstGeom>
          <a:noFill/>
          <a:ln/>
        </p:spPr>
        <p:txBody>
          <a:bodyPr wrap="square" rtlCol="0" anchor="t"/>
          <a:lstStyle/>
          <a:p>
            <a:pPr marL="342900" indent="-342900">
              <a:spcAft>
                <a:spcPts val="600"/>
              </a:spcAft>
              <a:buSzPct val="100000"/>
              <a:buChar char="•"/>
            </a:pPr>
            <a:r>
              <a:rPr lang="en-US" sz="1100" dirty="0">
                <a:solidFill>
                  <a:srgbClr val="FFFFFF">
                    <a:alpha val="88000"/>
                  </a:srgbClr>
                </a:solidFill>
              </a:rPr>
              <a:t>Facilitated full-day session using C&amp;W's proprietary Core Values methodology</a:t>
            </a:r>
            <a:endParaRPr lang="en-US" sz="1100" dirty="0"/>
          </a:p>
          <a:p>
            <a:pPr marL="342900" indent="-342900">
              <a:spcAft>
                <a:spcPts val="600"/>
              </a:spcAft>
              <a:buSzPct val="100000"/>
              <a:buChar char="•"/>
            </a:pPr>
            <a:r>
              <a:rPr lang="en-US" sz="1100" dirty="0">
                <a:solidFill>
                  <a:srgbClr val="FFFFFF">
                    <a:alpha val="88000"/>
                  </a:srgbClr>
                </a:solidFill>
              </a:rPr>
              <a:t>Exploration of your target audience to test relevance of proposed values</a:t>
            </a:r>
            <a:endParaRPr lang="en-US" sz="1100" dirty="0"/>
          </a:p>
          <a:p>
            <a:pPr marL="342900" indent="-342900">
              <a:spcAft>
                <a:spcPts val="600"/>
              </a:spcAft>
              <a:buSzPct val="100000"/>
              <a:buChar char="•"/>
            </a:pPr>
            <a:r>
              <a:rPr lang="en-US" sz="1100" dirty="0">
                <a:solidFill>
                  <a:srgbClr val="FFFFFF">
                    <a:alpha val="88000"/>
                  </a:srgbClr>
                </a:solidFill>
              </a:rPr>
              <a:t>Competitor mapping to ensure differentiation — particularly important in a niche that is getting noisier as AI becomes more mainstream</a:t>
            </a:r>
            <a:endParaRPr lang="en-US" sz="1100" dirty="0"/>
          </a:p>
          <a:p>
            <a:pPr marL="342900" indent="-342900">
              <a:spcAft>
                <a:spcPts val="600"/>
              </a:spcAft>
              <a:buSzPct val="100000"/>
              <a:buChar char="•"/>
            </a:pPr>
            <a:r>
              <a:rPr lang="en-US" sz="1100" dirty="0">
                <a:solidFill>
                  <a:srgbClr val="FFFFFF">
                    <a:alpha val="88000"/>
                  </a:srgbClr>
                </a:solidFill>
              </a:rPr>
              <a:t>Generation of long-lists of key messages, whittled down to 2–3 core value words that genuinely sum up Zero Fluff</a:t>
            </a:r>
            <a:endParaRPr lang="en-US" sz="1100" dirty="0"/>
          </a:p>
          <a:p>
            <a:pPr marL="342900" indent="-342900">
              <a:spcAft>
                <a:spcPts val="600"/>
              </a:spcAft>
              <a:buSzPct val="100000"/>
              <a:buChar char="•"/>
            </a:pPr>
            <a:r>
              <a:rPr lang="en-US" sz="1100" dirty="0">
                <a:solidFill>
                  <a:srgbClr val="FFFFFF">
                    <a:alpha val="88000"/>
                  </a:srgbClr>
                </a:solidFill>
              </a:rPr>
              <a:t>Written summary of agreed values with explanatory rationale for each — something you can hand to any future collaborator or member of staff</a:t>
            </a:r>
            <a:endParaRPr lang="en-US" sz="1100" dirty="0"/>
          </a:p>
        </p:txBody>
      </p:sp>
      <p:sp>
        <p:nvSpPr>
          <p:cNvPr id="8" name="Text 6"/>
          <p:cNvSpPr/>
          <p:nvPr/>
        </p:nvSpPr>
        <p:spPr>
          <a:xfrm>
            <a:off x="731520" y="5715000"/>
            <a:ext cx="10698480" cy="411480"/>
          </a:xfrm>
          <a:prstGeom prst="rect">
            <a:avLst/>
          </a:prstGeom>
          <a:noFill/>
          <a:ln/>
        </p:spPr>
        <p:txBody>
          <a:bodyPr wrap="square" rtlCol="0" anchor="ctr"/>
          <a:lstStyle/>
          <a:p>
            <a:pPr indent="0" marL="0">
              <a:buNone/>
            </a:pPr>
            <a:r>
              <a:rPr lang="en-US" sz="1100" i="1" dirty="0">
                <a:solidFill>
                  <a:srgbClr val="D6E865"/>
                </a:solidFill>
              </a:rPr>
              <a:t>◷  A full-day facilitated session with both of you at our Exeter office. Two people is actually ideal for this — the conversation moves faster and there is no internal politics to navigate.</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61C21"/>
        </a:solidFill>
      </p:bgPr>
    </p:bg>
    <p:spTree>
      <p:nvGrpSpPr>
        <p:cNvPr id="1" name=""/>
        <p:cNvGrpSpPr/>
        <p:nvPr/>
      </p:nvGrpSpPr>
      <p:grpSpPr>
        <a:xfrm>
          <a:off x="0" y="0"/>
          <a:ext cx="0" cy="0"/>
          <a:chOff x="0" y="0"/>
          <a:chExt cx="0" cy="0"/>
        </a:xfrm>
      </p:grpSpPr>
      <p:sp>
        <p:nvSpPr>
          <p:cNvPr id="2" name="Text 0"/>
          <p:cNvSpPr/>
          <p:nvPr/>
        </p:nvSpPr>
        <p:spPr>
          <a:xfrm>
            <a:off x="457200" y="6455664"/>
            <a:ext cx="8229600" cy="292608"/>
          </a:xfrm>
          <a:prstGeom prst="rect">
            <a:avLst/>
          </a:prstGeom>
          <a:noFill/>
          <a:ln/>
        </p:spPr>
        <p:txBody>
          <a:bodyPr wrap="square" rtlCol="0" anchor="ctr"/>
          <a:lstStyle/>
          <a:p>
            <a:pPr indent="0" marL="0">
              <a:buNone/>
            </a:pPr>
            <a:r>
              <a:rPr lang="en-US" sz="850" dirty="0">
                <a:solidFill>
                  <a:srgbClr val="FFFFFF">
                    <a:alpha val="45000"/>
                  </a:srgbClr>
                </a:solidFill>
              </a:rPr>
              <a:t>7 July 2026 · Zero Fluff Proposal</a:t>
            </a:r>
            <a:endParaRPr lang="en-US" sz="850" dirty="0"/>
          </a:p>
        </p:txBody>
      </p:sp>
      <p:sp>
        <p:nvSpPr>
          <p:cNvPr id="3" name="Text 1"/>
          <p:cNvSpPr/>
          <p:nvPr/>
        </p:nvSpPr>
        <p:spPr>
          <a:xfrm>
            <a:off x="9875520" y="6455664"/>
            <a:ext cx="1828800" cy="292608"/>
          </a:xfrm>
          <a:prstGeom prst="rect">
            <a:avLst/>
          </a:prstGeom>
          <a:noFill/>
          <a:ln/>
        </p:spPr>
        <p:txBody>
          <a:bodyPr wrap="square" rtlCol="0" anchor="ctr"/>
          <a:lstStyle/>
          <a:p>
            <a:pPr algn="r" indent="0" marL="0">
              <a:buNone/>
            </a:pPr>
            <a:r>
              <a:rPr lang="en-US" sz="850" b="1" dirty="0">
                <a:solidFill>
                  <a:srgbClr val="FFFFFF">
                    <a:alpha val="60000"/>
                  </a:srgbClr>
                </a:solidFill>
              </a:rPr>
              <a:t>Chalk &amp; Ward</a:t>
            </a:r>
            <a:endParaRPr lang="en-US" sz="850" dirty="0"/>
          </a:p>
        </p:txBody>
      </p:sp>
      <p:sp>
        <p:nvSpPr>
          <p:cNvPr id="4" name="Text 2"/>
          <p:cNvSpPr/>
          <p:nvPr/>
        </p:nvSpPr>
        <p:spPr>
          <a:xfrm>
            <a:off x="731520" y="411480"/>
            <a:ext cx="10058400" cy="320040"/>
          </a:xfrm>
          <a:prstGeom prst="rect">
            <a:avLst/>
          </a:prstGeom>
          <a:noFill/>
          <a:ln/>
        </p:spPr>
        <p:txBody>
          <a:bodyPr wrap="square" rtlCol="0" anchor="ctr"/>
          <a:lstStyle/>
          <a:p>
            <a:pPr indent="0" marL="0">
              <a:buNone/>
            </a:pPr>
            <a:r>
              <a:rPr lang="en-US" sz="1100" b="1" spc="400" kern="0" dirty="0">
                <a:solidFill>
                  <a:srgbClr val="D6E865"/>
                </a:solidFill>
              </a:rPr>
              <a:t>WORKSTREAM 3 · OPTIONAL</a:t>
            </a:r>
            <a:endParaRPr lang="en-US" sz="1100" dirty="0"/>
          </a:p>
        </p:txBody>
      </p:sp>
      <p:sp>
        <p:nvSpPr>
          <p:cNvPr id="5" name="Text 3"/>
          <p:cNvSpPr/>
          <p:nvPr/>
        </p:nvSpPr>
        <p:spPr>
          <a:xfrm>
            <a:off x="731520" y="777240"/>
            <a:ext cx="10698480" cy="640080"/>
          </a:xfrm>
          <a:prstGeom prst="rect">
            <a:avLst/>
          </a:prstGeom>
          <a:noFill/>
          <a:ln/>
        </p:spPr>
        <p:txBody>
          <a:bodyPr wrap="square" rtlCol="0" anchor="ctr"/>
          <a:lstStyle/>
          <a:p>
            <a:pPr indent="0" marL="0">
              <a:buNone/>
            </a:pPr>
            <a:r>
              <a:rPr lang="en-US" sz="2600" b="1" dirty="0">
                <a:solidFill>
                  <a:srgbClr val="FFFFFF"/>
                </a:solidFill>
              </a:rPr>
              <a:t>Tone of voice</a:t>
            </a:r>
            <a:endParaRPr lang="en-US" sz="2600" dirty="0"/>
          </a:p>
        </p:txBody>
      </p:sp>
      <p:sp>
        <p:nvSpPr>
          <p:cNvPr id="6" name="Text 4"/>
          <p:cNvSpPr/>
          <p:nvPr/>
        </p:nvSpPr>
        <p:spPr>
          <a:xfrm>
            <a:off x="731520" y="1691640"/>
            <a:ext cx="10698480" cy="1463040"/>
          </a:xfrm>
          <a:prstGeom prst="rect">
            <a:avLst/>
          </a:prstGeom>
          <a:noFill/>
          <a:ln/>
        </p:spPr>
        <p:txBody>
          <a:bodyPr wrap="square" rtlCol="0" anchor="t"/>
          <a:lstStyle/>
          <a:p>
            <a:pPr indent="0" marL="0">
              <a:buNone/>
            </a:pPr>
            <a:r>
              <a:rPr lang="en-US" sz="1200" dirty="0">
                <a:solidFill>
                  <a:srgbClr val="FFFFFF"/>
                </a:solidFill>
              </a:rPr>
              <a:t>The phrase 'Zero Fluff' is doing a lot of heavy lifting right now as a tone-of-voice signal — it says something clear about how you communicate. But without a documented tone of voice, that clarity is vulnerable. If you brief a copywriter, write a new web page, or put out a LinkedIn post in a hurry, there is no reference point to keep it consistent. Given that your website is the primary tool you want driving inbound calls, the words on it matter enormously — and they need to sound like you, not like every other AI consultancy using the same generic tech-sector language.</a:t>
            </a:r>
            <a:endParaRPr lang="en-US" sz="1200" dirty="0"/>
          </a:p>
        </p:txBody>
      </p:sp>
      <p:sp>
        <p:nvSpPr>
          <p:cNvPr id="7" name="Text 5"/>
          <p:cNvSpPr/>
          <p:nvPr/>
        </p:nvSpPr>
        <p:spPr>
          <a:xfrm>
            <a:off x="731520" y="3246120"/>
            <a:ext cx="10698480" cy="2377440"/>
          </a:xfrm>
          <a:prstGeom prst="rect">
            <a:avLst/>
          </a:prstGeom>
          <a:noFill/>
          <a:ln/>
        </p:spPr>
        <p:txBody>
          <a:bodyPr wrap="square" rtlCol="0" anchor="t"/>
          <a:lstStyle/>
          <a:p>
            <a:pPr marL="342900" indent="-342900">
              <a:spcAft>
                <a:spcPts val="600"/>
              </a:spcAft>
              <a:buSzPct val="100000"/>
              <a:buChar char="•"/>
            </a:pPr>
            <a:r>
              <a:rPr lang="en-US" sz="1100" dirty="0">
                <a:solidFill>
                  <a:srgbClr val="FFFFFF">
                    <a:alpha val="88000"/>
                  </a:srgbClr>
                </a:solidFill>
              </a:rPr>
              <a:t>Virtual kick-off with our specialist tone-of-voice partner to define what 'Zero Fluff' sounds like in practice</a:t>
            </a:r>
            <a:endParaRPr lang="en-US" sz="1100" dirty="0"/>
          </a:p>
          <a:p>
            <a:pPr marL="342900" indent="-342900">
              <a:spcAft>
                <a:spcPts val="600"/>
              </a:spcAft>
              <a:buSzPct val="100000"/>
              <a:buChar char="•"/>
            </a:pPr>
            <a:r>
              <a:rPr lang="en-US" sz="1100" dirty="0">
                <a:solidFill>
                  <a:srgbClr val="FFFFFF">
                    <a:alpha val="88000"/>
                  </a:srgbClr>
                </a:solidFill>
              </a:rPr>
              <a:t>Tone of voice guidelines document covering: personality, vocabulary, what to avoid, and examples in context</a:t>
            </a:r>
            <a:endParaRPr lang="en-US" sz="1100" dirty="0"/>
          </a:p>
          <a:p>
            <a:pPr marL="342900" indent="-342900">
              <a:spcAft>
                <a:spcPts val="600"/>
              </a:spcAft>
              <a:buSzPct val="100000"/>
              <a:buChar char="•"/>
            </a:pPr>
            <a:r>
              <a:rPr lang="en-US" sz="1100" dirty="0">
                <a:solidFill>
                  <a:srgbClr val="FFFFFF">
                    <a:alpha val="88000"/>
                  </a:srgbClr>
                </a:solidFill>
              </a:rPr>
              <a:t>Guidance on applying the tone across your website, email, and any other written touchpoints</a:t>
            </a:r>
            <a:endParaRPr lang="en-US" sz="1100" dirty="0"/>
          </a:p>
          <a:p>
            <a:pPr marL="342900" indent="-342900">
              <a:spcAft>
                <a:spcPts val="600"/>
              </a:spcAft>
              <a:buSzPct val="100000"/>
              <a:buChar char="•"/>
            </a:pPr>
            <a:r>
              <a:rPr lang="en-US" sz="1100" dirty="0">
                <a:solidFill>
                  <a:srgbClr val="FFFFFF">
                    <a:alpha val="88000"/>
                  </a:srgbClr>
                </a:solidFill>
              </a:rPr>
              <a:t>Short roll-out session to walk you both through how to use it day-to-day</a:t>
            </a:r>
            <a:endParaRPr lang="en-US" sz="1100" dirty="0"/>
          </a:p>
        </p:txBody>
      </p:sp>
      <p:sp>
        <p:nvSpPr>
          <p:cNvPr id="8" name="Text 6"/>
          <p:cNvSpPr/>
          <p:nvPr/>
        </p:nvSpPr>
        <p:spPr>
          <a:xfrm>
            <a:off x="731520" y="5715000"/>
            <a:ext cx="10698480" cy="411480"/>
          </a:xfrm>
          <a:prstGeom prst="rect">
            <a:avLst/>
          </a:prstGeom>
          <a:noFill/>
          <a:ln/>
        </p:spPr>
        <p:txBody>
          <a:bodyPr wrap="square" rtlCol="0" anchor="ctr"/>
          <a:lstStyle/>
          <a:p>
            <a:pPr indent="0" marL="0">
              <a:buNone/>
            </a:pPr>
            <a:r>
              <a:rPr lang="en-US" sz="1100" i="1" dirty="0">
                <a:solidFill>
                  <a:srgbClr val="D6E865"/>
                </a:solidFill>
              </a:rPr>
              <a:t>◷  Virtual kick-off, followed by a review and delivery session — also virtual. Delivered in partnership with C&amp;W's specialist tone-of-voice partner.</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61C21"/>
        </a:solidFill>
      </p:bgPr>
    </p:bg>
    <p:spTree>
      <p:nvGrpSpPr>
        <p:cNvPr id="1" name=""/>
        <p:cNvGrpSpPr/>
        <p:nvPr/>
      </p:nvGrpSpPr>
      <p:grpSpPr>
        <a:xfrm>
          <a:off x="0" y="0"/>
          <a:ext cx="0" cy="0"/>
          <a:chOff x="0" y="0"/>
          <a:chExt cx="0" cy="0"/>
        </a:xfrm>
      </p:grpSpPr>
      <p:sp>
        <p:nvSpPr>
          <p:cNvPr id="2" name="Text 0"/>
          <p:cNvSpPr/>
          <p:nvPr/>
        </p:nvSpPr>
        <p:spPr>
          <a:xfrm>
            <a:off x="457200" y="6455664"/>
            <a:ext cx="8229600" cy="292608"/>
          </a:xfrm>
          <a:prstGeom prst="rect">
            <a:avLst/>
          </a:prstGeom>
          <a:noFill/>
          <a:ln/>
        </p:spPr>
        <p:txBody>
          <a:bodyPr wrap="square" rtlCol="0" anchor="ctr"/>
          <a:lstStyle/>
          <a:p>
            <a:pPr indent="0" marL="0">
              <a:buNone/>
            </a:pPr>
            <a:r>
              <a:rPr lang="en-US" sz="850" dirty="0">
                <a:solidFill>
                  <a:srgbClr val="FFFFFF">
                    <a:alpha val="45000"/>
                  </a:srgbClr>
                </a:solidFill>
              </a:rPr>
              <a:t>7 July 2026 · Zero Fluff Proposal</a:t>
            </a:r>
            <a:endParaRPr lang="en-US" sz="850" dirty="0"/>
          </a:p>
        </p:txBody>
      </p:sp>
      <p:sp>
        <p:nvSpPr>
          <p:cNvPr id="3" name="Text 1"/>
          <p:cNvSpPr/>
          <p:nvPr/>
        </p:nvSpPr>
        <p:spPr>
          <a:xfrm>
            <a:off x="9875520" y="6455664"/>
            <a:ext cx="1828800" cy="292608"/>
          </a:xfrm>
          <a:prstGeom prst="rect">
            <a:avLst/>
          </a:prstGeom>
          <a:noFill/>
          <a:ln/>
        </p:spPr>
        <p:txBody>
          <a:bodyPr wrap="square" rtlCol="0" anchor="ctr"/>
          <a:lstStyle/>
          <a:p>
            <a:pPr algn="r" indent="0" marL="0">
              <a:buNone/>
            </a:pPr>
            <a:r>
              <a:rPr lang="en-US" sz="850" b="1" dirty="0">
                <a:solidFill>
                  <a:srgbClr val="FFFFFF">
                    <a:alpha val="60000"/>
                  </a:srgbClr>
                </a:solidFill>
              </a:rPr>
              <a:t>Chalk &amp; Ward</a:t>
            </a:r>
            <a:endParaRPr lang="en-US" sz="850" dirty="0"/>
          </a:p>
        </p:txBody>
      </p:sp>
      <p:sp>
        <p:nvSpPr>
          <p:cNvPr id="4" name="Text 2"/>
          <p:cNvSpPr/>
          <p:nvPr/>
        </p:nvSpPr>
        <p:spPr>
          <a:xfrm>
            <a:off x="731520" y="411480"/>
            <a:ext cx="10058400" cy="320040"/>
          </a:xfrm>
          <a:prstGeom prst="rect">
            <a:avLst/>
          </a:prstGeom>
          <a:noFill/>
          <a:ln/>
        </p:spPr>
        <p:txBody>
          <a:bodyPr wrap="square" rtlCol="0" anchor="ctr"/>
          <a:lstStyle/>
          <a:p>
            <a:pPr indent="0" marL="0">
              <a:buNone/>
            </a:pPr>
            <a:r>
              <a:rPr lang="en-US" sz="1100" b="1" spc="400" kern="0" dirty="0">
                <a:solidFill>
                  <a:srgbClr val="D6E865"/>
                </a:solidFill>
              </a:rPr>
              <a:t>WORKSTREAM 4</a:t>
            </a:r>
            <a:endParaRPr lang="en-US" sz="1100" dirty="0"/>
          </a:p>
        </p:txBody>
      </p:sp>
      <p:sp>
        <p:nvSpPr>
          <p:cNvPr id="5" name="Text 3"/>
          <p:cNvSpPr/>
          <p:nvPr/>
        </p:nvSpPr>
        <p:spPr>
          <a:xfrm>
            <a:off x="731520" y="777240"/>
            <a:ext cx="10698480" cy="640080"/>
          </a:xfrm>
          <a:prstGeom prst="rect">
            <a:avLst/>
          </a:prstGeom>
          <a:noFill/>
          <a:ln/>
        </p:spPr>
        <p:txBody>
          <a:bodyPr wrap="square" rtlCol="0" anchor="ctr"/>
          <a:lstStyle/>
          <a:p>
            <a:pPr indent="0" marL="0">
              <a:buNone/>
            </a:pPr>
            <a:r>
              <a:rPr lang="en-US" sz="2600" b="1" dirty="0">
                <a:solidFill>
                  <a:srgbClr val="FFFFFF"/>
                </a:solidFill>
              </a:rPr>
              <a:t>Design style &amp; brand guidelines</a:t>
            </a:r>
            <a:endParaRPr lang="en-US" sz="2600" dirty="0"/>
          </a:p>
        </p:txBody>
      </p:sp>
      <p:sp>
        <p:nvSpPr>
          <p:cNvPr id="6" name="Text 4"/>
          <p:cNvSpPr/>
          <p:nvPr/>
        </p:nvSpPr>
        <p:spPr>
          <a:xfrm>
            <a:off x="731520" y="1691640"/>
            <a:ext cx="10698480" cy="1463040"/>
          </a:xfrm>
          <a:prstGeom prst="rect">
            <a:avLst/>
          </a:prstGeom>
          <a:noFill/>
          <a:ln/>
        </p:spPr>
        <p:txBody>
          <a:bodyPr wrap="square" rtlCol="0" anchor="t"/>
          <a:lstStyle/>
          <a:p>
            <a:pPr indent="0" marL="0">
              <a:buNone/>
            </a:pPr>
            <a:r>
              <a:rPr lang="en-US" sz="1200" dirty="0">
                <a:solidFill>
                  <a:srgbClr val="FFFFFF"/>
                </a:solidFill>
              </a:rPr>
              <a:t>You told us you don't want to overhaul the brand — and we're not suggesting you do. The name is strong, the website's technical foundations are already in excellent shape (a perfect 100 out of 100 for mobile SEO, which is genuinely rare), and there is no case for tearing things up. What is missing is a coherent, documented visual system: a settled colour palette, clear typography rules, guidance on imagery, and a record of how the logo should and shouldn't be used. Without that, every new piece of content is a fresh decision. With it, everything you produce looks like it came from the same place — which matters enormously when you are asking a stranger to trust you enough to pick up the phone.</a:t>
            </a:r>
            <a:endParaRPr lang="en-US" sz="1200" dirty="0"/>
          </a:p>
        </p:txBody>
      </p:sp>
      <p:sp>
        <p:nvSpPr>
          <p:cNvPr id="7" name="Text 5"/>
          <p:cNvSpPr/>
          <p:nvPr/>
        </p:nvSpPr>
        <p:spPr>
          <a:xfrm>
            <a:off x="731520" y="3246120"/>
            <a:ext cx="10698480" cy="2377440"/>
          </a:xfrm>
          <a:prstGeom prst="rect">
            <a:avLst/>
          </a:prstGeom>
          <a:noFill/>
          <a:ln/>
        </p:spPr>
        <p:txBody>
          <a:bodyPr wrap="square" rtlCol="0" anchor="t"/>
          <a:lstStyle/>
          <a:p>
            <a:pPr marL="342900" indent="-342900">
              <a:spcAft>
                <a:spcPts val="600"/>
              </a:spcAft>
              <a:buSzPct val="100000"/>
              <a:buChar char="•"/>
            </a:pPr>
            <a:r>
              <a:rPr lang="en-US" sz="1100" dirty="0">
                <a:solidFill>
                  <a:srgbClr val="FFFFFF">
                    <a:alpha val="88000"/>
                  </a:srgbClr>
                </a:solidFill>
              </a:rPr>
              <a:t>Review of the existing logo, colour palette, typography and any graphic devices currently in use</a:t>
            </a:r>
            <a:endParaRPr lang="en-US" sz="1100" dirty="0"/>
          </a:p>
          <a:p>
            <a:pPr marL="342900" indent="-342900">
              <a:spcAft>
                <a:spcPts val="600"/>
              </a:spcAft>
              <a:buSzPct val="100000"/>
              <a:buChar char="•"/>
            </a:pPr>
            <a:r>
              <a:rPr lang="en-US" sz="1100" dirty="0">
                <a:solidFill>
                  <a:srgbClr val="FFFFFF">
                    <a:alpha val="88000"/>
                  </a:srgbClr>
                </a:solidFill>
              </a:rPr>
              <a:t>Recommendations for evolution — not revolution — retaining what already works and codifying it properly</a:t>
            </a:r>
            <a:endParaRPr lang="en-US" sz="1100" dirty="0"/>
          </a:p>
          <a:p>
            <a:pPr marL="342900" indent="-342900">
              <a:spcAft>
                <a:spcPts val="600"/>
              </a:spcAft>
              <a:buSzPct val="100000"/>
              <a:buChar char="•"/>
            </a:pPr>
            <a:r>
              <a:rPr lang="en-US" sz="1100" dirty="0">
                <a:solidFill>
                  <a:srgbClr val="FFFFFF">
                    <a:alpha val="88000"/>
                  </a:srgbClr>
                </a:solidFill>
              </a:rPr>
              <a:t>Guidance on imagery style appropriate to an AI consultancy that wants to feel human and approachable, not cold and corporate</a:t>
            </a:r>
            <a:endParaRPr lang="en-US" sz="1100" dirty="0"/>
          </a:p>
          <a:p>
            <a:pPr marL="342900" indent="-342900">
              <a:spcAft>
                <a:spcPts val="600"/>
              </a:spcAft>
              <a:buSzPct val="100000"/>
              <a:buChar char="•"/>
            </a:pPr>
            <a:r>
              <a:rPr lang="en-US" sz="1100" dirty="0">
                <a:solidFill>
                  <a:srgbClr val="FFFFFF">
                    <a:alpha val="88000"/>
                  </a:srgbClr>
                </a:solidFill>
              </a:rPr>
              <a:t>Brand guidelines document: a single reference point for all future design and content decisions, usable by any designer or developer you work with</a:t>
            </a:r>
            <a:endParaRPr lang="en-US" sz="1100" dirty="0"/>
          </a:p>
        </p:txBody>
      </p:sp>
      <p:sp>
        <p:nvSpPr>
          <p:cNvPr id="8" name="Text 6"/>
          <p:cNvSpPr/>
          <p:nvPr/>
        </p:nvSpPr>
        <p:spPr>
          <a:xfrm>
            <a:off x="731520" y="5715000"/>
            <a:ext cx="10698480" cy="411480"/>
          </a:xfrm>
          <a:prstGeom prst="rect">
            <a:avLst/>
          </a:prstGeom>
          <a:noFill/>
          <a:ln/>
        </p:spPr>
        <p:txBody>
          <a:bodyPr wrap="square" rtlCol="0" anchor="ctr"/>
          <a:lstStyle/>
          <a:p>
            <a:pPr indent="0" marL="0">
              <a:buNone/>
            </a:pPr>
            <a:r>
              <a:rPr lang="en-US" sz="1100" i="1" dirty="0">
                <a:solidFill>
                  <a:srgbClr val="D6E865"/>
                </a:solidFill>
              </a:rPr>
              <a:t>◷  Primarily desk-based work by our design team following the briefing and Core Values sessions. We will share work-in-progress for your review at an agreed midpoint, with a final presentation of the guidelines document.</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61C21"/>
        </a:solidFill>
      </p:bgPr>
    </p:bg>
    <p:spTree>
      <p:nvGrpSpPr>
        <p:cNvPr id="1" name=""/>
        <p:cNvGrpSpPr/>
        <p:nvPr/>
      </p:nvGrpSpPr>
      <p:grpSpPr>
        <a:xfrm>
          <a:off x="0" y="0"/>
          <a:ext cx="0" cy="0"/>
          <a:chOff x="0" y="0"/>
          <a:chExt cx="0" cy="0"/>
        </a:xfrm>
      </p:grpSpPr>
      <p:sp>
        <p:nvSpPr>
          <p:cNvPr id="2" name="Text 0"/>
          <p:cNvSpPr/>
          <p:nvPr/>
        </p:nvSpPr>
        <p:spPr>
          <a:xfrm>
            <a:off x="457200" y="6455664"/>
            <a:ext cx="8229600" cy="292608"/>
          </a:xfrm>
          <a:prstGeom prst="rect">
            <a:avLst/>
          </a:prstGeom>
          <a:noFill/>
          <a:ln/>
        </p:spPr>
        <p:txBody>
          <a:bodyPr wrap="square" rtlCol="0" anchor="ctr"/>
          <a:lstStyle/>
          <a:p>
            <a:pPr indent="0" marL="0">
              <a:buNone/>
            </a:pPr>
            <a:r>
              <a:rPr lang="en-US" sz="850" dirty="0">
                <a:solidFill>
                  <a:srgbClr val="FFFFFF">
                    <a:alpha val="45000"/>
                  </a:srgbClr>
                </a:solidFill>
              </a:rPr>
              <a:t>7 July 2026 · Zero Fluff Proposal</a:t>
            </a:r>
            <a:endParaRPr lang="en-US" sz="850" dirty="0"/>
          </a:p>
        </p:txBody>
      </p:sp>
      <p:sp>
        <p:nvSpPr>
          <p:cNvPr id="3" name="Text 1"/>
          <p:cNvSpPr/>
          <p:nvPr/>
        </p:nvSpPr>
        <p:spPr>
          <a:xfrm>
            <a:off x="9875520" y="6455664"/>
            <a:ext cx="1828800" cy="292608"/>
          </a:xfrm>
          <a:prstGeom prst="rect">
            <a:avLst/>
          </a:prstGeom>
          <a:noFill/>
          <a:ln/>
        </p:spPr>
        <p:txBody>
          <a:bodyPr wrap="square" rtlCol="0" anchor="ctr"/>
          <a:lstStyle/>
          <a:p>
            <a:pPr algn="r" indent="0" marL="0">
              <a:buNone/>
            </a:pPr>
            <a:r>
              <a:rPr lang="en-US" sz="850" b="1" dirty="0">
                <a:solidFill>
                  <a:srgbClr val="FFFFFF">
                    <a:alpha val="60000"/>
                  </a:srgbClr>
                </a:solidFill>
              </a:rPr>
              <a:t>Chalk &amp; Ward</a:t>
            </a:r>
            <a:endParaRPr lang="en-US" sz="850" dirty="0"/>
          </a:p>
        </p:txBody>
      </p:sp>
      <p:sp>
        <p:nvSpPr>
          <p:cNvPr id="4" name="Text 2"/>
          <p:cNvSpPr/>
          <p:nvPr/>
        </p:nvSpPr>
        <p:spPr>
          <a:xfrm>
            <a:off x="731520" y="1920240"/>
            <a:ext cx="2743200" cy="1371600"/>
          </a:xfrm>
          <a:prstGeom prst="rect">
            <a:avLst/>
          </a:prstGeom>
          <a:noFill/>
          <a:ln/>
        </p:spPr>
        <p:txBody>
          <a:bodyPr wrap="square" rtlCol="0" anchor="ctr"/>
          <a:lstStyle/>
          <a:p>
            <a:pPr indent="0" marL="0">
              <a:buNone/>
            </a:pPr>
            <a:r>
              <a:rPr lang="en-US" sz="8000" b="1" dirty="0">
                <a:solidFill>
                  <a:srgbClr val="D6E865"/>
                </a:solidFill>
              </a:rPr>
              <a:t>03</a:t>
            </a:r>
            <a:endParaRPr lang="en-US" sz="8000" dirty="0"/>
          </a:p>
        </p:txBody>
      </p:sp>
      <p:sp>
        <p:nvSpPr>
          <p:cNvPr id="5" name="Text 3"/>
          <p:cNvSpPr/>
          <p:nvPr/>
        </p:nvSpPr>
        <p:spPr>
          <a:xfrm>
            <a:off x="777240" y="3383280"/>
            <a:ext cx="10058400" cy="914400"/>
          </a:xfrm>
          <a:prstGeom prst="rect">
            <a:avLst/>
          </a:prstGeom>
          <a:noFill/>
          <a:ln/>
        </p:spPr>
        <p:txBody>
          <a:bodyPr wrap="square" rtlCol="0" anchor="ctr"/>
          <a:lstStyle/>
          <a:p>
            <a:pPr indent="0" marL="0">
              <a:buNone/>
            </a:pPr>
            <a:r>
              <a:rPr lang="en-US" sz="3400" b="1" dirty="0">
                <a:solidFill>
                  <a:srgbClr val="FFFFFF"/>
                </a:solidFill>
              </a:rPr>
              <a:t>Selected work</a:t>
            </a:r>
            <a:endParaRPr lang="en-US" sz="3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61C21"/>
        </a:solidFill>
      </p:bgPr>
    </p:bg>
    <p:spTree>
      <p:nvGrpSpPr>
        <p:cNvPr id="1" name=""/>
        <p:cNvGrpSpPr/>
        <p:nvPr/>
      </p:nvGrpSpPr>
      <p:grpSpPr>
        <a:xfrm>
          <a:off x="0" y="0"/>
          <a:ext cx="0" cy="0"/>
          <a:chOff x="0" y="0"/>
          <a:chExt cx="0" cy="0"/>
        </a:xfrm>
      </p:grpSpPr>
      <p:sp>
        <p:nvSpPr>
          <p:cNvPr id="2" name="Text 0"/>
          <p:cNvSpPr/>
          <p:nvPr/>
        </p:nvSpPr>
        <p:spPr>
          <a:xfrm>
            <a:off x="457200" y="6455664"/>
            <a:ext cx="8229600" cy="292608"/>
          </a:xfrm>
          <a:prstGeom prst="rect">
            <a:avLst/>
          </a:prstGeom>
          <a:noFill/>
          <a:ln/>
        </p:spPr>
        <p:txBody>
          <a:bodyPr wrap="square" rtlCol="0" anchor="ctr"/>
          <a:lstStyle/>
          <a:p>
            <a:pPr indent="0" marL="0">
              <a:buNone/>
            </a:pPr>
            <a:r>
              <a:rPr lang="en-US" sz="850" dirty="0">
                <a:solidFill>
                  <a:srgbClr val="FFFFFF">
                    <a:alpha val="45000"/>
                  </a:srgbClr>
                </a:solidFill>
              </a:rPr>
              <a:t>7 July 2026 · Zero Fluff Proposal</a:t>
            </a:r>
            <a:endParaRPr lang="en-US" sz="850" dirty="0"/>
          </a:p>
        </p:txBody>
      </p:sp>
      <p:sp>
        <p:nvSpPr>
          <p:cNvPr id="3" name="Text 1"/>
          <p:cNvSpPr/>
          <p:nvPr/>
        </p:nvSpPr>
        <p:spPr>
          <a:xfrm>
            <a:off x="9875520" y="6455664"/>
            <a:ext cx="1828800" cy="292608"/>
          </a:xfrm>
          <a:prstGeom prst="rect">
            <a:avLst/>
          </a:prstGeom>
          <a:noFill/>
          <a:ln/>
        </p:spPr>
        <p:txBody>
          <a:bodyPr wrap="square" rtlCol="0" anchor="ctr"/>
          <a:lstStyle/>
          <a:p>
            <a:pPr algn="r" indent="0" marL="0">
              <a:buNone/>
            </a:pPr>
            <a:r>
              <a:rPr lang="en-US" sz="850" b="1" dirty="0">
                <a:solidFill>
                  <a:srgbClr val="FFFFFF">
                    <a:alpha val="60000"/>
                  </a:srgbClr>
                </a:solidFill>
              </a:rPr>
              <a:t>Chalk &amp; Ward</a:t>
            </a:r>
            <a:endParaRPr lang="en-US" sz="850" dirty="0"/>
          </a:p>
        </p:txBody>
      </p:sp>
      <p:sp>
        <p:nvSpPr>
          <p:cNvPr id="4" name="Text 2"/>
          <p:cNvSpPr/>
          <p:nvPr/>
        </p:nvSpPr>
        <p:spPr>
          <a:xfrm>
            <a:off x="731520" y="411480"/>
            <a:ext cx="10058400" cy="320040"/>
          </a:xfrm>
          <a:prstGeom prst="rect">
            <a:avLst/>
          </a:prstGeom>
          <a:noFill/>
          <a:ln/>
        </p:spPr>
        <p:txBody>
          <a:bodyPr wrap="square" rtlCol="0" anchor="ctr"/>
          <a:lstStyle/>
          <a:p>
            <a:pPr indent="0" marL="0">
              <a:buNone/>
            </a:pPr>
            <a:r>
              <a:rPr lang="en-US" sz="1100" b="1" spc="400" kern="0" dirty="0">
                <a:solidFill>
                  <a:srgbClr val="D6E865"/>
                </a:solidFill>
              </a:rPr>
              <a:t>SELECTED WORK</a:t>
            </a:r>
            <a:endParaRPr lang="en-US" sz="1100" dirty="0"/>
          </a:p>
        </p:txBody>
      </p:sp>
      <p:sp>
        <p:nvSpPr>
          <p:cNvPr id="5" name="Text 3"/>
          <p:cNvSpPr/>
          <p:nvPr/>
        </p:nvSpPr>
        <p:spPr>
          <a:xfrm>
            <a:off x="731520" y="777240"/>
            <a:ext cx="10698480" cy="640080"/>
          </a:xfrm>
          <a:prstGeom prst="rect">
            <a:avLst/>
          </a:prstGeom>
          <a:noFill/>
          <a:ln/>
        </p:spPr>
        <p:txBody>
          <a:bodyPr wrap="square" rtlCol="0" anchor="ctr"/>
          <a:lstStyle/>
          <a:p>
            <a:pPr indent="0" marL="0">
              <a:buNone/>
            </a:pPr>
            <a:r>
              <a:rPr lang="en-US" sz="2600" b="1" dirty="0">
                <a:solidFill>
                  <a:srgbClr val="FFFFFF"/>
                </a:solidFill>
              </a:rPr>
              <a:t>We've done this before</a:t>
            </a:r>
            <a:endParaRPr lang="en-US" sz="2600" dirty="0"/>
          </a:p>
        </p:txBody>
      </p:sp>
      <p:sp>
        <p:nvSpPr>
          <p:cNvPr id="6" name="Shape 4"/>
          <p:cNvSpPr/>
          <p:nvPr/>
        </p:nvSpPr>
        <p:spPr>
          <a:xfrm>
            <a:off x="731520" y="1737360"/>
            <a:ext cx="5394960" cy="4206240"/>
          </a:xfrm>
          <a:prstGeom prst="rect">
            <a:avLst/>
          </a:prstGeom>
          <a:solidFill>
            <a:srgbClr val="11161A"/>
          </a:solidFill>
          <a:ln w="12700">
            <a:solidFill>
              <a:srgbClr val="11161A"/>
            </a:solidFill>
            <a:prstDash val="solid"/>
          </a:ln>
        </p:spPr>
      </p:sp>
      <p:sp>
        <p:nvSpPr>
          <p:cNvPr id="7" name="Text 5"/>
          <p:cNvSpPr/>
          <p:nvPr/>
        </p:nvSpPr>
        <p:spPr>
          <a:xfrm>
            <a:off x="960120" y="1920240"/>
            <a:ext cx="4937760" cy="320040"/>
          </a:xfrm>
          <a:prstGeom prst="rect">
            <a:avLst/>
          </a:prstGeom>
          <a:noFill/>
          <a:ln/>
        </p:spPr>
        <p:txBody>
          <a:bodyPr wrap="square" rtlCol="0" anchor="ctr"/>
          <a:lstStyle/>
          <a:p>
            <a:pPr indent="0" marL="0">
              <a:buNone/>
            </a:pPr>
            <a:r>
              <a:rPr lang="en-US" sz="950" b="1" spc="200" kern="0" dirty="0">
                <a:solidFill>
                  <a:srgbClr val="D6E865"/>
                </a:solidFill>
              </a:rPr>
              <a:t>Charity · Brand development</a:t>
            </a:r>
            <a:endParaRPr lang="en-US" sz="950" dirty="0"/>
          </a:p>
        </p:txBody>
      </p:sp>
      <p:sp>
        <p:nvSpPr>
          <p:cNvPr id="8" name="Text 6"/>
          <p:cNvSpPr/>
          <p:nvPr/>
        </p:nvSpPr>
        <p:spPr>
          <a:xfrm>
            <a:off x="960120" y="2286000"/>
            <a:ext cx="4937760" cy="457200"/>
          </a:xfrm>
          <a:prstGeom prst="rect">
            <a:avLst/>
          </a:prstGeom>
          <a:noFill/>
          <a:ln/>
        </p:spPr>
        <p:txBody>
          <a:bodyPr wrap="square" rtlCol="0" anchor="ctr"/>
          <a:lstStyle/>
          <a:p>
            <a:pPr indent="0" marL="0">
              <a:buNone/>
            </a:pPr>
            <a:r>
              <a:rPr lang="en-US" sz="1700" b="1" dirty="0">
                <a:solidFill>
                  <a:srgbClr val="FFFFFF"/>
                </a:solidFill>
              </a:rPr>
              <a:t>Devon Air Ambulance</a:t>
            </a:r>
            <a:endParaRPr lang="en-US" sz="1700" dirty="0"/>
          </a:p>
        </p:txBody>
      </p:sp>
      <p:sp>
        <p:nvSpPr>
          <p:cNvPr id="9" name="Text 7"/>
          <p:cNvSpPr/>
          <p:nvPr/>
        </p:nvSpPr>
        <p:spPr>
          <a:xfrm>
            <a:off x="960120" y="2788920"/>
            <a:ext cx="4937760" cy="1737360"/>
          </a:xfrm>
          <a:prstGeom prst="rect">
            <a:avLst/>
          </a:prstGeom>
          <a:noFill/>
          <a:ln/>
        </p:spPr>
        <p:txBody>
          <a:bodyPr wrap="square" rtlCol="0" anchor="t"/>
          <a:lstStyle/>
          <a:p>
            <a:pPr indent="0" marL="0">
              <a:buNone/>
            </a:pPr>
            <a:r>
              <a:rPr lang="en-US" sz="1050" dirty="0">
                <a:solidFill>
                  <a:srgbClr val="FFFFFF">
                    <a:alpha val="85000"/>
                  </a:srgbClr>
                </a:solidFill>
              </a:rPr>
              <a:t>Devon Air Ambulance Trust raises the funds that keep Devon's two air ambulances flying and its fleet of Critical Care Cars responding. Chalk &amp; Ward delivered brand strategy, brand identity, market research and point-of-sale creative for the charity's trading range.</a:t>
            </a:r>
            <a:endParaRPr lang="en-US" sz="1050" dirty="0"/>
          </a:p>
        </p:txBody>
      </p:sp>
      <p:sp>
        <p:nvSpPr>
          <p:cNvPr id="10" name="Text 8"/>
          <p:cNvSpPr/>
          <p:nvPr/>
        </p:nvSpPr>
        <p:spPr>
          <a:xfrm>
            <a:off x="960120" y="5212080"/>
            <a:ext cx="4937760" cy="548640"/>
          </a:xfrm>
          <a:prstGeom prst="rect">
            <a:avLst/>
          </a:prstGeom>
          <a:noFill/>
          <a:ln/>
        </p:spPr>
        <p:txBody>
          <a:bodyPr wrap="square" rtlCol="0" anchor="t"/>
          <a:lstStyle/>
          <a:p>
            <a:pPr indent="0" marL="0">
              <a:buNone/>
            </a:pPr>
            <a:endParaRPr lang="en-US" sz="1200" dirty="0"/>
          </a:p>
        </p:txBody>
      </p:sp>
      <p:sp>
        <p:nvSpPr>
          <p:cNvPr id="11" name="Shape 9"/>
          <p:cNvSpPr/>
          <p:nvPr/>
        </p:nvSpPr>
        <p:spPr>
          <a:xfrm>
            <a:off x="6400800" y="1737360"/>
            <a:ext cx="5394960" cy="4206240"/>
          </a:xfrm>
          <a:prstGeom prst="rect">
            <a:avLst/>
          </a:prstGeom>
          <a:solidFill>
            <a:srgbClr val="11161A"/>
          </a:solidFill>
          <a:ln w="12700">
            <a:solidFill>
              <a:srgbClr val="11161A"/>
            </a:solidFill>
            <a:prstDash val="solid"/>
          </a:ln>
        </p:spPr>
      </p:sp>
      <p:sp>
        <p:nvSpPr>
          <p:cNvPr id="12" name="Text 10"/>
          <p:cNvSpPr/>
          <p:nvPr/>
        </p:nvSpPr>
        <p:spPr>
          <a:xfrm>
            <a:off x="6629400" y="1920240"/>
            <a:ext cx="4937760" cy="320040"/>
          </a:xfrm>
          <a:prstGeom prst="rect">
            <a:avLst/>
          </a:prstGeom>
          <a:noFill/>
          <a:ln/>
        </p:spPr>
        <p:txBody>
          <a:bodyPr wrap="square" rtlCol="0" anchor="ctr"/>
          <a:lstStyle/>
          <a:p>
            <a:pPr indent="0" marL="0">
              <a:buNone/>
            </a:pPr>
            <a:r>
              <a:rPr lang="en-US" sz="950" b="1" spc="200" kern="0" dirty="0">
                <a:solidFill>
                  <a:srgbClr val="D6E865"/>
                </a:solidFill>
              </a:rPr>
              <a:t>Luxury hotel · Brand &amp; website launch</a:t>
            </a:r>
            <a:endParaRPr lang="en-US" sz="950" dirty="0"/>
          </a:p>
        </p:txBody>
      </p:sp>
      <p:sp>
        <p:nvSpPr>
          <p:cNvPr id="13" name="Text 11"/>
          <p:cNvSpPr/>
          <p:nvPr/>
        </p:nvSpPr>
        <p:spPr>
          <a:xfrm>
            <a:off x="6629400" y="2286000"/>
            <a:ext cx="4937760" cy="457200"/>
          </a:xfrm>
          <a:prstGeom prst="rect">
            <a:avLst/>
          </a:prstGeom>
          <a:noFill/>
          <a:ln/>
        </p:spPr>
        <p:txBody>
          <a:bodyPr wrap="square" rtlCol="0" anchor="ctr"/>
          <a:lstStyle/>
          <a:p>
            <a:pPr indent="0" marL="0">
              <a:buNone/>
            </a:pPr>
            <a:r>
              <a:rPr lang="en-US" sz="1700" b="1" dirty="0">
                <a:solidFill>
                  <a:srgbClr val="FFFFFF"/>
                </a:solidFill>
              </a:rPr>
              <a:t>Lympstone Manor</a:t>
            </a:r>
            <a:endParaRPr lang="en-US" sz="1700" dirty="0"/>
          </a:p>
        </p:txBody>
      </p:sp>
      <p:sp>
        <p:nvSpPr>
          <p:cNvPr id="14" name="Text 12"/>
          <p:cNvSpPr/>
          <p:nvPr/>
        </p:nvSpPr>
        <p:spPr>
          <a:xfrm>
            <a:off x="6629400" y="2788920"/>
            <a:ext cx="4937760" cy="1737360"/>
          </a:xfrm>
          <a:prstGeom prst="rect">
            <a:avLst/>
          </a:prstGeom>
          <a:noFill/>
          <a:ln/>
        </p:spPr>
        <p:txBody>
          <a:bodyPr wrap="square" rtlCol="0" anchor="t"/>
          <a:lstStyle/>
          <a:p>
            <a:pPr indent="0" marL="0">
              <a:buNone/>
            </a:pPr>
            <a:r>
              <a:rPr lang="en-US" sz="1050" dirty="0">
                <a:solidFill>
                  <a:srgbClr val="FFFFFF">
                    <a:alpha val="85000"/>
                  </a:srgbClr>
                </a:solidFill>
              </a:rPr>
              <a:t>Chalk &amp; Ward partnered with Michael Caines to launch Lympstone Manor, his country house hotel and restaurant on the Exe estuary — delivering brand strategy and development, marketing plans, web design and build, and creative and print.</a:t>
            </a:r>
            <a:endParaRPr lang="en-US" sz="1050" dirty="0"/>
          </a:p>
        </p:txBody>
      </p:sp>
      <p:sp>
        <p:nvSpPr>
          <p:cNvPr id="15" name="Text 13"/>
          <p:cNvSpPr/>
          <p:nvPr/>
        </p:nvSpPr>
        <p:spPr>
          <a:xfrm>
            <a:off x="6629400" y="5212080"/>
            <a:ext cx="4937760" cy="548640"/>
          </a:xfrm>
          <a:prstGeom prst="rect">
            <a:avLst/>
          </a:prstGeom>
          <a:noFill/>
          <a:ln/>
        </p:spPr>
        <p:txBody>
          <a:bodyPr wrap="square" rtlCol="0" anchor="t"/>
          <a:lstStyle/>
          <a:p>
            <a:pPr indent="0" marL="0">
              <a:buNone/>
            </a:pPr>
            <a:r>
              <a:rPr lang="en-US" sz="1200" b="1" dirty="0">
                <a:solidFill>
                  <a:srgbClr val="D6E865"/>
                </a:solidFill>
              </a:rPr>
              <a:t>-15%  cost per conversion     +71%  conversion rate     14:1  return on investment     97/100  mobile performance</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61C21"/>
        </a:solidFill>
      </p:bgPr>
    </p:bg>
    <p:spTree>
      <p:nvGrpSpPr>
        <p:cNvPr id="1" name=""/>
        <p:cNvGrpSpPr/>
        <p:nvPr/>
      </p:nvGrpSpPr>
      <p:grpSpPr>
        <a:xfrm>
          <a:off x="0" y="0"/>
          <a:ext cx="0" cy="0"/>
          <a:chOff x="0" y="0"/>
          <a:chExt cx="0" cy="0"/>
        </a:xfrm>
      </p:grpSpPr>
      <p:sp>
        <p:nvSpPr>
          <p:cNvPr id="2" name="Text 0"/>
          <p:cNvSpPr/>
          <p:nvPr/>
        </p:nvSpPr>
        <p:spPr>
          <a:xfrm>
            <a:off x="457200" y="6455664"/>
            <a:ext cx="8229600" cy="292608"/>
          </a:xfrm>
          <a:prstGeom prst="rect">
            <a:avLst/>
          </a:prstGeom>
          <a:noFill/>
          <a:ln/>
        </p:spPr>
        <p:txBody>
          <a:bodyPr wrap="square" rtlCol="0" anchor="ctr"/>
          <a:lstStyle/>
          <a:p>
            <a:pPr indent="0" marL="0">
              <a:buNone/>
            </a:pPr>
            <a:r>
              <a:rPr lang="en-US" sz="850" dirty="0">
                <a:solidFill>
                  <a:srgbClr val="FFFFFF">
                    <a:alpha val="45000"/>
                  </a:srgbClr>
                </a:solidFill>
              </a:rPr>
              <a:t>7 July 2026 · Zero Fluff Proposal</a:t>
            </a:r>
            <a:endParaRPr lang="en-US" sz="850" dirty="0"/>
          </a:p>
        </p:txBody>
      </p:sp>
      <p:sp>
        <p:nvSpPr>
          <p:cNvPr id="3" name="Text 1"/>
          <p:cNvSpPr/>
          <p:nvPr/>
        </p:nvSpPr>
        <p:spPr>
          <a:xfrm>
            <a:off x="9875520" y="6455664"/>
            <a:ext cx="1828800" cy="292608"/>
          </a:xfrm>
          <a:prstGeom prst="rect">
            <a:avLst/>
          </a:prstGeom>
          <a:noFill/>
          <a:ln/>
        </p:spPr>
        <p:txBody>
          <a:bodyPr wrap="square" rtlCol="0" anchor="ctr"/>
          <a:lstStyle/>
          <a:p>
            <a:pPr algn="r" indent="0" marL="0">
              <a:buNone/>
            </a:pPr>
            <a:r>
              <a:rPr lang="en-US" sz="850" b="1" dirty="0">
                <a:solidFill>
                  <a:srgbClr val="FFFFFF">
                    <a:alpha val="60000"/>
                  </a:srgbClr>
                </a:solidFill>
              </a:rPr>
              <a:t>Chalk &amp; Ward</a:t>
            </a:r>
            <a:endParaRPr lang="en-US" sz="850" dirty="0"/>
          </a:p>
        </p:txBody>
      </p:sp>
      <p:sp>
        <p:nvSpPr>
          <p:cNvPr id="4" name="Text 2"/>
          <p:cNvSpPr/>
          <p:nvPr/>
        </p:nvSpPr>
        <p:spPr>
          <a:xfrm>
            <a:off x="731520" y="411480"/>
            <a:ext cx="10058400" cy="320040"/>
          </a:xfrm>
          <a:prstGeom prst="rect">
            <a:avLst/>
          </a:prstGeom>
          <a:noFill/>
          <a:ln/>
        </p:spPr>
        <p:txBody>
          <a:bodyPr wrap="square" rtlCol="0" anchor="ctr"/>
          <a:lstStyle/>
          <a:p>
            <a:pPr indent="0" marL="0">
              <a:buNone/>
            </a:pPr>
            <a:r>
              <a:rPr lang="en-US" sz="1100" b="1" spc="400" kern="0" dirty="0">
                <a:solidFill>
                  <a:srgbClr val="D6E865"/>
                </a:solidFill>
              </a:rPr>
              <a:t>WHAT OUR CLIENTS SAY</a:t>
            </a:r>
            <a:endParaRPr lang="en-US" sz="1100" dirty="0"/>
          </a:p>
        </p:txBody>
      </p:sp>
      <p:sp>
        <p:nvSpPr>
          <p:cNvPr id="5" name="Text 3"/>
          <p:cNvSpPr/>
          <p:nvPr/>
        </p:nvSpPr>
        <p:spPr>
          <a:xfrm>
            <a:off x="731520" y="1280160"/>
            <a:ext cx="10698480" cy="4023360"/>
          </a:xfrm>
          <a:prstGeom prst="rect">
            <a:avLst/>
          </a:prstGeom>
          <a:noFill/>
          <a:ln/>
        </p:spPr>
        <p:txBody>
          <a:bodyPr wrap="square" rtlCol="0" anchor="t"/>
          <a:lstStyle/>
          <a:p>
            <a:pPr indent="0" marL="0">
              <a:buNone/>
            </a:pPr>
            <a:r>
              <a:rPr lang="en-US" sz="1400" i="1" dirty="0">
                <a:solidFill>
                  <a:srgbClr val="FFFFFF"/>
                </a:solidFill>
              </a:rPr>
              <a:t>“Our website specification was detailed and in part complex due to integrating our eLearning courses. It was important for us to select an agency who could help us elevate our brand through the web design. Chalk &amp; Ward fully grasped what we were looking for and took time to understand our business and clients. They have been great all through the process from designing engaging visuals to launching the website. The website redesign has resulted in improved SEO and performance and an increased number of sales leads coming through our contact forms. I would recommend working with Chalk &amp; Ward if you're looking for an agency to take your online presence to the next level.”</a:t>
            </a:r>
            <a:endParaRPr lang="en-US" sz="1400" dirty="0"/>
          </a:p>
        </p:txBody>
      </p:sp>
      <p:sp>
        <p:nvSpPr>
          <p:cNvPr id="6" name="Text 4"/>
          <p:cNvSpPr/>
          <p:nvPr/>
        </p:nvSpPr>
        <p:spPr>
          <a:xfrm>
            <a:off x="731520" y="5486400"/>
            <a:ext cx="10698480" cy="457200"/>
          </a:xfrm>
          <a:prstGeom prst="rect">
            <a:avLst/>
          </a:prstGeom>
          <a:noFill/>
          <a:ln/>
        </p:spPr>
        <p:txBody>
          <a:bodyPr wrap="square" rtlCol="0" anchor="ctr"/>
          <a:lstStyle/>
          <a:p>
            <a:pPr indent="0" marL="0">
              <a:buNone/>
            </a:pPr>
            <a:r>
              <a:rPr lang="en-US" sz="1200" b="1" dirty="0">
                <a:solidFill>
                  <a:srgbClr val="D6E865"/>
                </a:solidFill>
              </a:rPr>
              <a:t>Nicky Demelweek / Marketing Manager / Securewest International</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61C21"/>
        </a:solidFill>
      </p:bgPr>
    </p:bg>
    <p:spTree>
      <p:nvGrpSpPr>
        <p:cNvPr id="1" name=""/>
        <p:cNvGrpSpPr/>
        <p:nvPr/>
      </p:nvGrpSpPr>
      <p:grpSpPr>
        <a:xfrm>
          <a:off x="0" y="0"/>
          <a:ext cx="0" cy="0"/>
          <a:chOff x="0" y="0"/>
          <a:chExt cx="0" cy="0"/>
        </a:xfrm>
      </p:grpSpPr>
      <p:sp>
        <p:nvSpPr>
          <p:cNvPr id="2" name="Text 0"/>
          <p:cNvSpPr/>
          <p:nvPr/>
        </p:nvSpPr>
        <p:spPr>
          <a:xfrm>
            <a:off x="457200" y="6455664"/>
            <a:ext cx="8229600" cy="292608"/>
          </a:xfrm>
          <a:prstGeom prst="rect">
            <a:avLst/>
          </a:prstGeom>
          <a:noFill/>
          <a:ln/>
        </p:spPr>
        <p:txBody>
          <a:bodyPr wrap="square" rtlCol="0" anchor="ctr"/>
          <a:lstStyle/>
          <a:p>
            <a:pPr indent="0" marL="0">
              <a:buNone/>
            </a:pPr>
            <a:r>
              <a:rPr lang="en-US" sz="850" dirty="0">
                <a:solidFill>
                  <a:srgbClr val="FFFFFF">
                    <a:alpha val="45000"/>
                  </a:srgbClr>
                </a:solidFill>
              </a:rPr>
              <a:t>7 July 2026 · Zero Fluff Proposal</a:t>
            </a:r>
            <a:endParaRPr lang="en-US" sz="850" dirty="0"/>
          </a:p>
        </p:txBody>
      </p:sp>
      <p:sp>
        <p:nvSpPr>
          <p:cNvPr id="3" name="Text 1"/>
          <p:cNvSpPr/>
          <p:nvPr/>
        </p:nvSpPr>
        <p:spPr>
          <a:xfrm>
            <a:off x="9875520" y="6455664"/>
            <a:ext cx="1828800" cy="292608"/>
          </a:xfrm>
          <a:prstGeom prst="rect">
            <a:avLst/>
          </a:prstGeom>
          <a:noFill/>
          <a:ln/>
        </p:spPr>
        <p:txBody>
          <a:bodyPr wrap="square" rtlCol="0" anchor="ctr"/>
          <a:lstStyle/>
          <a:p>
            <a:pPr algn="r" indent="0" marL="0">
              <a:buNone/>
            </a:pPr>
            <a:r>
              <a:rPr lang="en-US" sz="850" b="1" dirty="0">
                <a:solidFill>
                  <a:srgbClr val="FFFFFF">
                    <a:alpha val="60000"/>
                  </a:srgbClr>
                </a:solidFill>
              </a:rPr>
              <a:t>Chalk &amp; Ward</a:t>
            </a:r>
            <a:endParaRPr lang="en-US" sz="850" dirty="0"/>
          </a:p>
        </p:txBody>
      </p:sp>
      <p:sp>
        <p:nvSpPr>
          <p:cNvPr id="4" name="Text 2"/>
          <p:cNvSpPr/>
          <p:nvPr/>
        </p:nvSpPr>
        <p:spPr>
          <a:xfrm>
            <a:off x="731520" y="411480"/>
            <a:ext cx="10058400" cy="320040"/>
          </a:xfrm>
          <a:prstGeom prst="rect">
            <a:avLst/>
          </a:prstGeom>
          <a:noFill/>
          <a:ln/>
        </p:spPr>
        <p:txBody>
          <a:bodyPr wrap="square" rtlCol="0" anchor="ctr"/>
          <a:lstStyle/>
          <a:p>
            <a:pPr indent="0" marL="0">
              <a:buNone/>
            </a:pPr>
            <a:r>
              <a:rPr lang="en-US" sz="1100" b="1" spc="400" kern="0" dirty="0">
                <a:solidFill>
                  <a:srgbClr val="D6E865"/>
                </a:solidFill>
              </a:rPr>
              <a:t>BEYOND THIS PROJECT</a:t>
            </a:r>
            <a:endParaRPr lang="en-US" sz="1100" dirty="0"/>
          </a:p>
        </p:txBody>
      </p:sp>
      <p:sp>
        <p:nvSpPr>
          <p:cNvPr id="5" name="Text 3"/>
          <p:cNvSpPr/>
          <p:nvPr/>
        </p:nvSpPr>
        <p:spPr>
          <a:xfrm>
            <a:off x="731520" y="777240"/>
            <a:ext cx="10698480" cy="640080"/>
          </a:xfrm>
          <a:prstGeom prst="rect">
            <a:avLst/>
          </a:prstGeom>
          <a:noFill/>
          <a:ln/>
        </p:spPr>
        <p:txBody>
          <a:bodyPr wrap="square" rtlCol="0" anchor="ctr"/>
          <a:lstStyle/>
          <a:p>
            <a:pPr indent="0" marL="0">
              <a:buNone/>
            </a:pPr>
            <a:r>
              <a:rPr lang="en-US" sz="2600" b="1" dirty="0">
                <a:solidFill>
                  <a:srgbClr val="FFFFFF"/>
                </a:solidFill>
              </a:rPr>
              <a:t>How else we can help</a:t>
            </a:r>
            <a:endParaRPr lang="en-US" sz="2600" dirty="0"/>
          </a:p>
        </p:txBody>
      </p:sp>
      <p:sp>
        <p:nvSpPr>
          <p:cNvPr id="6" name="Text 4"/>
          <p:cNvSpPr/>
          <p:nvPr/>
        </p:nvSpPr>
        <p:spPr>
          <a:xfrm>
            <a:off x="731520" y="1645920"/>
            <a:ext cx="10698480" cy="914400"/>
          </a:xfrm>
          <a:prstGeom prst="rect">
            <a:avLst/>
          </a:prstGeom>
          <a:noFill/>
          <a:ln/>
        </p:spPr>
        <p:txBody>
          <a:bodyPr wrap="square" rtlCol="0" anchor="t"/>
          <a:lstStyle/>
          <a:p>
            <a:pPr indent="0" marL="0">
              <a:buNone/>
            </a:pPr>
            <a:r>
              <a:rPr lang="en-US" sz="1150" dirty="0">
                <a:solidFill>
                  <a:srgbClr val="FFFFFF">
                    <a:alpha val="85000"/>
                  </a:srgbClr>
                </a:solidFill>
              </a:rPr>
              <a:t>Once the brand foundations are in place, there are a number of ways we can support Zero Fluff in putting them to work — from SEO and content strategy through to website refinement and paid search — and we are happy to talk through any of these as the project progresses. None of the services below are costed within this proposal; they are signposted here so you know what is available when you are ready.</a:t>
            </a:r>
            <a:endParaRPr lang="en-US" sz="1150" dirty="0"/>
          </a:p>
        </p:txBody>
      </p:sp>
      <p:sp>
        <p:nvSpPr>
          <p:cNvPr id="7" name="Text 5"/>
          <p:cNvSpPr/>
          <p:nvPr/>
        </p:nvSpPr>
        <p:spPr>
          <a:xfrm>
            <a:off x="731520" y="2743200"/>
            <a:ext cx="5303520" cy="3108960"/>
          </a:xfrm>
          <a:prstGeom prst="rect">
            <a:avLst/>
          </a:prstGeom>
          <a:noFill/>
          <a:ln/>
        </p:spPr>
        <p:txBody>
          <a:bodyPr wrap="square" rtlCol="0" anchor="t"/>
          <a:lstStyle/>
          <a:p>
            <a:pPr marL="177800" indent="-177800">
              <a:spcAft>
                <a:spcPts val="800"/>
              </a:spcAft>
              <a:buSzPct val="100000"/>
              <a:buChar char="+"/>
            </a:pPr>
            <a:r>
              <a:rPr lang="en-US" sz="1200" dirty="0">
                <a:solidFill>
                  <a:srgbClr val="FFFFFF"/>
                </a:solidFill>
              </a:rPr>
              <a:t>Website development &amp; optimisation</a:t>
            </a:r>
            <a:endParaRPr lang="en-US" sz="1200" dirty="0"/>
          </a:p>
          <a:p>
            <a:pPr marL="177800" indent="-177800">
              <a:spcAft>
                <a:spcPts val="800"/>
              </a:spcAft>
              <a:buSzPct val="100000"/>
              <a:buChar char="+"/>
            </a:pPr>
            <a:r>
              <a:rPr lang="en-US" sz="1200" dirty="0">
                <a:solidFill>
                  <a:srgbClr val="FFFFFF"/>
                </a:solidFill>
              </a:rPr>
              <a:t>Design &amp; artwork</a:t>
            </a:r>
            <a:endParaRPr lang="en-US" sz="1200" dirty="0"/>
          </a:p>
          <a:p>
            <a:pPr marL="177800" indent="-177800">
              <a:spcAft>
                <a:spcPts val="800"/>
              </a:spcAft>
              <a:buSzPct val="100000"/>
              <a:buChar char="+"/>
            </a:pPr>
            <a:r>
              <a:rPr lang="en-US" sz="1200" dirty="0">
                <a:solidFill>
                  <a:srgbClr val="FFFFFF"/>
                </a:solidFill>
              </a:rPr>
              <a:t>SEO — including AI-generated search visibility</a:t>
            </a:r>
            <a:endParaRPr lang="en-US" sz="1200" dirty="0"/>
          </a:p>
          <a:p>
            <a:pPr marL="177800" indent="-177800">
              <a:spcAft>
                <a:spcPts val="800"/>
              </a:spcAft>
              <a:buSzPct val="100000"/>
              <a:buChar char="+"/>
            </a:pPr>
            <a:r>
              <a:rPr lang="en-US" sz="1200" dirty="0">
                <a:solidFill>
                  <a:srgbClr val="FFFFFF"/>
                </a:solidFill>
              </a:rPr>
              <a:t>Paid search &amp; PPC management</a:t>
            </a:r>
            <a:endParaRPr lang="en-US" sz="1200" dirty="0"/>
          </a:p>
          <a:p>
            <a:pPr marL="177800" indent="-177800">
              <a:spcAft>
                <a:spcPts val="800"/>
              </a:spcAft>
              <a:buSzPct val="100000"/>
              <a:buChar char="+"/>
            </a:pPr>
            <a:r>
              <a:rPr lang="en-US" sz="1200" dirty="0">
                <a:solidFill>
                  <a:srgbClr val="FFFFFF"/>
                </a:solidFill>
              </a:rPr>
              <a:t>Email marketing</a:t>
            </a:r>
            <a:endParaRPr lang="en-US" sz="1200" dirty="0"/>
          </a:p>
        </p:txBody>
      </p:sp>
      <p:sp>
        <p:nvSpPr>
          <p:cNvPr id="8" name="Text 6"/>
          <p:cNvSpPr/>
          <p:nvPr/>
        </p:nvSpPr>
        <p:spPr>
          <a:xfrm>
            <a:off x="6309360" y="2743200"/>
            <a:ext cx="5303520" cy="3108960"/>
          </a:xfrm>
          <a:prstGeom prst="rect">
            <a:avLst/>
          </a:prstGeom>
          <a:noFill/>
          <a:ln/>
        </p:spPr>
        <p:txBody>
          <a:bodyPr wrap="square" rtlCol="0" anchor="t"/>
          <a:lstStyle/>
          <a:p>
            <a:pPr marL="177800" indent="-177800">
              <a:spcAft>
                <a:spcPts val="800"/>
              </a:spcAft>
              <a:buSzPct val="100000"/>
              <a:buChar char="+"/>
            </a:pPr>
            <a:r>
              <a:rPr lang="en-US" sz="1200" dirty="0">
                <a:solidFill>
                  <a:srgbClr val="FFFFFF"/>
                </a:solidFill>
              </a:rPr>
              <a:t>Social media — organic &amp; paid</a:t>
            </a:r>
            <a:endParaRPr lang="en-US" sz="1200" dirty="0"/>
          </a:p>
          <a:p>
            <a:pPr marL="177800" indent="-177800">
              <a:spcAft>
                <a:spcPts val="800"/>
              </a:spcAft>
              <a:buSzPct val="100000"/>
              <a:buChar char="+"/>
            </a:pPr>
            <a:r>
              <a:rPr lang="en-US" sz="1200" dirty="0">
                <a:solidFill>
                  <a:srgbClr val="FFFFFF"/>
                </a:solidFill>
              </a:rPr>
              <a:t>PR &amp; communications</a:t>
            </a:r>
            <a:endParaRPr lang="en-US" sz="1200" dirty="0"/>
          </a:p>
          <a:p>
            <a:pPr marL="177800" indent="-177800">
              <a:spcAft>
                <a:spcPts val="800"/>
              </a:spcAft>
              <a:buSzPct val="100000"/>
              <a:buChar char="+"/>
            </a:pPr>
            <a:r>
              <a:rPr lang="en-US" sz="1200" dirty="0">
                <a:solidFill>
                  <a:srgbClr val="FFFFFF"/>
                </a:solidFill>
              </a:rPr>
              <a:t>Content writing</a:t>
            </a:r>
            <a:endParaRPr lang="en-US" sz="1200" dirty="0"/>
          </a:p>
          <a:p>
            <a:pPr marL="177800" indent="-177800">
              <a:spcAft>
                <a:spcPts val="800"/>
              </a:spcAft>
              <a:buSzPct val="100000"/>
              <a:buChar char="+"/>
            </a:pPr>
            <a:r>
              <a:rPr lang="en-US" sz="1200" dirty="0">
                <a:solidFill>
                  <a:srgbClr val="FFFFFF"/>
                </a:solidFill>
              </a:rPr>
              <a:t>Photography &amp; videography</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61C21"/>
        </a:solidFill>
      </p:bgPr>
    </p:bg>
    <p:spTree>
      <p:nvGrpSpPr>
        <p:cNvPr id="1" name=""/>
        <p:cNvGrpSpPr/>
        <p:nvPr/>
      </p:nvGrpSpPr>
      <p:grpSpPr>
        <a:xfrm>
          <a:off x="0" y="0"/>
          <a:ext cx="0" cy="0"/>
          <a:chOff x="0" y="0"/>
          <a:chExt cx="0" cy="0"/>
        </a:xfrm>
      </p:grpSpPr>
      <p:sp>
        <p:nvSpPr>
          <p:cNvPr id="2" name="Text 0"/>
          <p:cNvSpPr/>
          <p:nvPr/>
        </p:nvSpPr>
        <p:spPr>
          <a:xfrm>
            <a:off x="457200" y="6455664"/>
            <a:ext cx="8229600" cy="292608"/>
          </a:xfrm>
          <a:prstGeom prst="rect">
            <a:avLst/>
          </a:prstGeom>
          <a:noFill/>
          <a:ln/>
        </p:spPr>
        <p:txBody>
          <a:bodyPr wrap="square" rtlCol="0" anchor="ctr"/>
          <a:lstStyle/>
          <a:p>
            <a:pPr indent="0" marL="0">
              <a:buNone/>
            </a:pPr>
            <a:r>
              <a:rPr lang="en-US" sz="850" dirty="0">
                <a:solidFill>
                  <a:srgbClr val="FFFFFF">
                    <a:alpha val="45000"/>
                  </a:srgbClr>
                </a:solidFill>
              </a:rPr>
              <a:t>7 July 2026 · Zero Fluff Proposal</a:t>
            </a:r>
            <a:endParaRPr lang="en-US" sz="850" dirty="0"/>
          </a:p>
        </p:txBody>
      </p:sp>
      <p:sp>
        <p:nvSpPr>
          <p:cNvPr id="3" name="Text 1"/>
          <p:cNvSpPr/>
          <p:nvPr/>
        </p:nvSpPr>
        <p:spPr>
          <a:xfrm>
            <a:off x="9875520" y="6455664"/>
            <a:ext cx="1828800" cy="292608"/>
          </a:xfrm>
          <a:prstGeom prst="rect">
            <a:avLst/>
          </a:prstGeom>
          <a:noFill/>
          <a:ln/>
        </p:spPr>
        <p:txBody>
          <a:bodyPr wrap="square" rtlCol="0" anchor="ctr"/>
          <a:lstStyle/>
          <a:p>
            <a:pPr algn="r" indent="0" marL="0">
              <a:buNone/>
            </a:pPr>
            <a:r>
              <a:rPr lang="en-US" sz="850" b="1" dirty="0">
                <a:solidFill>
                  <a:srgbClr val="FFFFFF">
                    <a:alpha val="60000"/>
                  </a:srgbClr>
                </a:solidFill>
              </a:rPr>
              <a:t>Chalk &amp; Ward</a:t>
            </a:r>
            <a:endParaRPr lang="en-US" sz="850" dirty="0"/>
          </a:p>
        </p:txBody>
      </p:sp>
      <p:sp>
        <p:nvSpPr>
          <p:cNvPr id="4" name="Text 2"/>
          <p:cNvSpPr/>
          <p:nvPr/>
        </p:nvSpPr>
        <p:spPr>
          <a:xfrm>
            <a:off x="731520" y="1920240"/>
            <a:ext cx="2743200" cy="1371600"/>
          </a:xfrm>
          <a:prstGeom prst="rect">
            <a:avLst/>
          </a:prstGeom>
          <a:noFill/>
          <a:ln/>
        </p:spPr>
        <p:txBody>
          <a:bodyPr wrap="square" rtlCol="0" anchor="ctr"/>
          <a:lstStyle/>
          <a:p>
            <a:pPr indent="0" marL="0">
              <a:buNone/>
            </a:pPr>
            <a:r>
              <a:rPr lang="en-US" sz="8000" b="1" dirty="0">
                <a:solidFill>
                  <a:srgbClr val="D6E865"/>
                </a:solidFill>
              </a:rPr>
              <a:t>04</a:t>
            </a:r>
            <a:endParaRPr lang="en-US" sz="8000" dirty="0"/>
          </a:p>
        </p:txBody>
      </p:sp>
      <p:sp>
        <p:nvSpPr>
          <p:cNvPr id="5" name="Text 3"/>
          <p:cNvSpPr/>
          <p:nvPr/>
        </p:nvSpPr>
        <p:spPr>
          <a:xfrm>
            <a:off x="777240" y="3383280"/>
            <a:ext cx="10058400" cy="914400"/>
          </a:xfrm>
          <a:prstGeom prst="rect">
            <a:avLst/>
          </a:prstGeom>
          <a:noFill/>
          <a:ln/>
        </p:spPr>
        <p:txBody>
          <a:bodyPr wrap="square" rtlCol="0" anchor="ctr"/>
          <a:lstStyle/>
          <a:p>
            <a:pPr indent="0" marL="0">
              <a:buNone/>
            </a:pPr>
            <a:r>
              <a:rPr lang="en-US" sz="3400" b="1" dirty="0">
                <a:solidFill>
                  <a:srgbClr val="FFFFFF"/>
                </a:solidFill>
              </a:rPr>
              <a:t>Costs</a:t>
            </a:r>
            <a:endParaRPr lang="en-US" sz="3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61C21"/>
        </a:solidFill>
      </p:bgPr>
    </p:bg>
    <p:spTree>
      <p:nvGrpSpPr>
        <p:cNvPr id="1" name=""/>
        <p:cNvGrpSpPr/>
        <p:nvPr/>
      </p:nvGrpSpPr>
      <p:grpSpPr>
        <a:xfrm>
          <a:off x="0" y="0"/>
          <a:ext cx="0" cy="0"/>
          <a:chOff x="0" y="0"/>
          <a:chExt cx="0" cy="0"/>
        </a:xfrm>
      </p:grpSpPr>
      <p:sp>
        <p:nvSpPr>
          <p:cNvPr id="2" name="Text 0"/>
          <p:cNvSpPr/>
          <p:nvPr/>
        </p:nvSpPr>
        <p:spPr>
          <a:xfrm>
            <a:off x="457200" y="6455664"/>
            <a:ext cx="8229600" cy="292608"/>
          </a:xfrm>
          <a:prstGeom prst="rect">
            <a:avLst/>
          </a:prstGeom>
          <a:noFill/>
          <a:ln/>
        </p:spPr>
        <p:txBody>
          <a:bodyPr wrap="square" rtlCol="0" anchor="ctr"/>
          <a:lstStyle/>
          <a:p>
            <a:pPr indent="0" marL="0">
              <a:buNone/>
            </a:pPr>
            <a:r>
              <a:rPr lang="en-US" sz="850" dirty="0">
                <a:solidFill>
                  <a:srgbClr val="FFFFFF">
                    <a:alpha val="45000"/>
                  </a:srgbClr>
                </a:solidFill>
              </a:rPr>
              <a:t>7 July 2026 · Zero Fluff Proposal</a:t>
            </a:r>
            <a:endParaRPr lang="en-US" sz="850" dirty="0"/>
          </a:p>
        </p:txBody>
      </p:sp>
      <p:sp>
        <p:nvSpPr>
          <p:cNvPr id="3" name="Text 1"/>
          <p:cNvSpPr/>
          <p:nvPr/>
        </p:nvSpPr>
        <p:spPr>
          <a:xfrm>
            <a:off x="9875520" y="6455664"/>
            <a:ext cx="1828800" cy="292608"/>
          </a:xfrm>
          <a:prstGeom prst="rect">
            <a:avLst/>
          </a:prstGeom>
          <a:noFill/>
          <a:ln/>
        </p:spPr>
        <p:txBody>
          <a:bodyPr wrap="square" rtlCol="0" anchor="ctr"/>
          <a:lstStyle/>
          <a:p>
            <a:pPr algn="r" indent="0" marL="0">
              <a:buNone/>
            </a:pPr>
            <a:r>
              <a:rPr lang="en-US" sz="850" b="1" dirty="0">
                <a:solidFill>
                  <a:srgbClr val="FFFFFF">
                    <a:alpha val="60000"/>
                  </a:srgbClr>
                </a:solidFill>
              </a:rPr>
              <a:t>Chalk &amp; Ward</a:t>
            </a:r>
            <a:endParaRPr lang="en-US" sz="850" dirty="0"/>
          </a:p>
        </p:txBody>
      </p:sp>
      <p:sp>
        <p:nvSpPr>
          <p:cNvPr id="4" name="Text 2"/>
          <p:cNvSpPr/>
          <p:nvPr/>
        </p:nvSpPr>
        <p:spPr>
          <a:xfrm>
            <a:off x="731520" y="411480"/>
            <a:ext cx="10058400" cy="320040"/>
          </a:xfrm>
          <a:prstGeom prst="rect">
            <a:avLst/>
          </a:prstGeom>
          <a:noFill/>
          <a:ln/>
        </p:spPr>
        <p:txBody>
          <a:bodyPr wrap="square" rtlCol="0" anchor="ctr"/>
          <a:lstStyle/>
          <a:p>
            <a:pPr indent="0" marL="0">
              <a:buNone/>
            </a:pPr>
            <a:r>
              <a:rPr lang="en-US" sz="1100" b="1" spc="400" kern="0" dirty="0">
                <a:solidFill>
                  <a:srgbClr val="D6E865"/>
                </a:solidFill>
              </a:rPr>
              <a:t>COSTS</a:t>
            </a:r>
            <a:endParaRPr lang="en-US" sz="1100" dirty="0"/>
          </a:p>
        </p:txBody>
      </p:sp>
      <p:sp>
        <p:nvSpPr>
          <p:cNvPr id="5" name="Text 3"/>
          <p:cNvSpPr/>
          <p:nvPr/>
        </p:nvSpPr>
        <p:spPr>
          <a:xfrm>
            <a:off x="731520" y="777240"/>
            <a:ext cx="10698480" cy="640080"/>
          </a:xfrm>
          <a:prstGeom prst="rect">
            <a:avLst/>
          </a:prstGeom>
          <a:noFill/>
          <a:ln/>
        </p:spPr>
        <p:txBody>
          <a:bodyPr wrap="square" rtlCol="0" anchor="ctr"/>
          <a:lstStyle/>
          <a:p>
            <a:pPr indent="0" marL="0">
              <a:buNone/>
            </a:pPr>
            <a:r>
              <a:rPr lang="en-US" sz="2600" b="1" dirty="0">
                <a:solidFill>
                  <a:srgbClr val="FFFFFF"/>
                </a:solidFill>
              </a:rPr>
              <a:t>The investment</a:t>
            </a:r>
            <a:endParaRPr lang="en-US" sz="2600" dirty="0"/>
          </a:p>
        </p:txBody>
      </p:sp>
      <p:sp>
        <p:nvSpPr>
          <p:cNvPr id="6" name="Text 4"/>
          <p:cNvSpPr/>
          <p:nvPr/>
        </p:nvSpPr>
        <p:spPr>
          <a:xfrm>
            <a:off x="731520" y="1645920"/>
            <a:ext cx="6035040" cy="0"/>
          </a:xfrm>
          <a:prstGeom prst="rect">
            <a:avLst/>
          </a:prstGeom>
          <a:noFill/>
          <a:ln/>
        </p:spPr>
        <p:txBody>
          <a:bodyPr wrap="square" rtlCol="0" anchor="ctr"/>
          <a:lstStyle/>
          <a:p>
            <a:pPr indent="0" marL="0">
              <a:buNone/>
            </a:pPr>
            <a:r>
              <a:rPr lang="en-US" sz="1250" b="1" dirty="0">
                <a:solidFill>
                  <a:srgbClr val="FFFFFF"/>
                </a:solidFill>
              </a:rPr>
              <a:t>Briefing session &amp; brand audit</a:t>
            </a:r>
            <a:endParaRPr lang="en-US" sz="1250" dirty="0"/>
          </a:p>
        </p:txBody>
      </p:sp>
      <p:sp>
        <p:nvSpPr>
          <p:cNvPr id="7" name="Text 5"/>
          <p:cNvSpPr/>
          <p:nvPr/>
        </p:nvSpPr>
        <p:spPr>
          <a:xfrm>
            <a:off x="731520" y="1938528"/>
            <a:ext cx="6035040" cy="0"/>
          </a:xfrm>
          <a:prstGeom prst="rect">
            <a:avLst/>
          </a:prstGeom>
          <a:noFill/>
          <a:ln/>
        </p:spPr>
        <p:txBody>
          <a:bodyPr wrap="square" rtlCol="0" anchor="ctr"/>
          <a:lstStyle/>
          <a:p>
            <a:pPr indent="0" marL="0">
              <a:buNone/>
            </a:pPr>
            <a:r>
              <a:rPr lang="en-US" sz="900" dirty="0">
                <a:solidFill>
                  <a:srgbClr val="FFFFFF">
                    <a:alpha val="65000"/>
                  </a:srgbClr>
                </a:solidFill>
              </a:rPr>
              <a:t>Half-day face-to-face session in Totnes covering your story, current brand touchpoints, target clients, competitor review, and agreement on what stays and what develops.</a:t>
            </a:r>
            <a:endParaRPr lang="en-US" sz="900" dirty="0"/>
          </a:p>
        </p:txBody>
      </p:sp>
      <p:sp>
        <p:nvSpPr>
          <p:cNvPr id="8" name="Text 6"/>
          <p:cNvSpPr/>
          <p:nvPr/>
        </p:nvSpPr>
        <p:spPr>
          <a:xfrm>
            <a:off x="8778240" y="1645920"/>
            <a:ext cx="2651760" cy="0"/>
          </a:xfrm>
          <a:prstGeom prst="rect">
            <a:avLst/>
          </a:prstGeom>
          <a:noFill/>
          <a:ln/>
        </p:spPr>
        <p:txBody>
          <a:bodyPr wrap="square" rtlCol="0" anchor="ctr"/>
          <a:lstStyle/>
          <a:p>
            <a:pPr algn="r" indent="0" marL="0">
              <a:buNone/>
            </a:pPr>
            <a:r>
              <a:rPr lang="en-US" sz="1500" b="1" dirty="0">
                <a:solidFill>
                  <a:srgbClr val="D6E865"/>
                </a:solidFill>
              </a:rPr>
              <a:t>£625–£750</a:t>
            </a:r>
            <a:endParaRPr lang="en-US" sz="1500" dirty="0"/>
          </a:p>
        </p:txBody>
      </p:sp>
      <p:sp>
        <p:nvSpPr>
          <p:cNvPr id="9" name="Text 7"/>
          <p:cNvSpPr/>
          <p:nvPr/>
        </p:nvSpPr>
        <p:spPr>
          <a:xfrm>
            <a:off x="731520" y="2331720"/>
            <a:ext cx="6035040" cy="0"/>
          </a:xfrm>
          <a:prstGeom prst="rect">
            <a:avLst/>
          </a:prstGeom>
          <a:noFill/>
          <a:ln/>
        </p:spPr>
        <p:txBody>
          <a:bodyPr wrap="square" rtlCol="0" anchor="ctr"/>
          <a:lstStyle/>
          <a:p>
            <a:pPr indent="0" marL="0">
              <a:buNone/>
            </a:pPr>
            <a:r>
              <a:rPr lang="en-US" sz="1250" b="1" dirty="0">
                <a:solidFill>
                  <a:srgbClr val="FFFFFF"/>
                </a:solidFill>
              </a:rPr>
              <a:t>Core Values development</a:t>
            </a:r>
            <a:endParaRPr lang="en-US" sz="1250" dirty="0"/>
          </a:p>
        </p:txBody>
      </p:sp>
      <p:sp>
        <p:nvSpPr>
          <p:cNvPr id="10" name="Text 8"/>
          <p:cNvSpPr/>
          <p:nvPr/>
        </p:nvSpPr>
        <p:spPr>
          <a:xfrm>
            <a:off x="731520" y="2624328"/>
            <a:ext cx="6035040" cy="0"/>
          </a:xfrm>
          <a:prstGeom prst="rect">
            <a:avLst/>
          </a:prstGeom>
          <a:noFill/>
          <a:ln/>
        </p:spPr>
        <p:txBody>
          <a:bodyPr wrap="square" rtlCol="0" anchor="ctr"/>
          <a:lstStyle/>
          <a:p>
            <a:pPr indent="0" marL="0">
              <a:buNone/>
            </a:pPr>
            <a:r>
              <a:rPr lang="en-US" sz="900" dirty="0">
                <a:solidFill>
                  <a:srgbClr val="FFFFFF">
                    <a:alpha val="65000"/>
                  </a:srgbClr>
                </a:solidFill>
              </a:rPr>
              <a:t>Full-day facilitated session at our Exeter office using C&amp;W's Core Values methodology, resulting in 2–3 agreed values with a written rationale document.</a:t>
            </a:r>
            <a:endParaRPr lang="en-US" sz="900" dirty="0"/>
          </a:p>
        </p:txBody>
      </p:sp>
      <p:sp>
        <p:nvSpPr>
          <p:cNvPr id="11" name="Text 9"/>
          <p:cNvSpPr/>
          <p:nvPr/>
        </p:nvSpPr>
        <p:spPr>
          <a:xfrm>
            <a:off x="8778240" y="2331720"/>
            <a:ext cx="2651760" cy="0"/>
          </a:xfrm>
          <a:prstGeom prst="rect">
            <a:avLst/>
          </a:prstGeom>
          <a:noFill/>
          <a:ln/>
        </p:spPr>
        <p:txBody>
          <a:bodyPr wrap="square" rtlCol="0" anchor="ctr"/>
          <a:lstStyle/>
          <a:p>
            <a:pPr algn="r" indent="0" marL="0">
              <a:buNone/>
            </a:pPr>
            <a:r>
              <a:rPr lang="en-US" sz="1500" b="1" dirty="0">
                <a:solidFill>
                  <a:srgbClr val="D6E865"/>
                </a:solidFill>
              </a:rPr>
              <a:t>£1,000–£1,250</a:t>
            </a:r>
            <a:endParaRPr lang="en-US" sz="1500" dirty="0"/>
          </a:p>
        </p:txBody>
      </p:sp>
      <p:sp>
        <p:nvSpPr>
          <p:cNvPr id="12" name="Text 10"/>
          <p:cNvSpPr/>
          <p:nvPr/>
        </p:nvSpPr>
        <p:spPr>
          <a:xfrm>
            <a:off x="731520" y="3017520"/>
            <a:ext cx="6035040" cy="0"/>
          </a:xfrm>
          <a:prstGeom prst="rect">
            <a:avLst/>
          </a:prstGeom>
          <a:noFill/>
          <a:ln/>
        </p:spPr>
        <p:txBody>
          <a:bodyPr wrap="square" rtlCol="0" anchor="ctr"/>
          <a:lstStyle/>
          <a:p>
            <a:pPr indent="0" marL="0">
              <a:buNone/>
            </a:pPr>
            <a:r>
              <a:rPr lang="en-US" sz="1250" b="1" dirty="0">
                <a:solidFill>
                  <a:srgbClr val="FFFFFF"/>
                </a:solidFill>
              </a:rPr>
              <a:t>Design style &amp; brand guidelines</a:t>
            </a:r>
            <a:endParaRPr lang="en-US" sz="1250" dirty="0"/>
          </a:p>
        </p:txBody>
      </p:sp>
      <p:sp>
        <p:nvSpPr>
          <p:cNvPr id="13" name="Text 11"/>
          <p:cNvSpPr/>
          <p:nvPr/>
        </p:nvSpPr>
        <p:spPr>
          <a:xfrm>
            <a:off x="731520" y="3310128"/>
            <a:ext cx="6035040" cy="0"/>
          </a:xfrm>
          <a:prstGeom prst="rect">
            <a:avLst/>
          </a:prstGeom>
          <a:noFill/>
          <a:ln/>
        </p:spPr>
        <p:txBody>
          <a:bodyPr wrap="square" rtlCol="0" anchor="ctr"/>
          <a:lstStyle/>
          <a:p>
            <a:pPr indent="0" marL="0">
              <a:buNone/>
            </a:pPr>
            <a:r>
              <a:rPr lang="en-US" sz="900" dirty="0">
                <a:solidFill>
                  <a:srgbClr val="FFFFFF">
                    <a:alpha val="65000"/>
                  </a:srgbClr>
                </a:solidFill>
              </a:rPr>
              <a:t>Review of existing visual identity, evolution recommendations, imagery guidance, and a complete brand guidelines document for use by any future designer or developer.</a:t>
            </a:r>
            <a:endParaRPr lang="en-US" sz="900" dirty="0"/>
          </a:p>
        </p:txBody>
      </p:sp>
      <p:sp>
        <p:nvSpPr>
          <p:cNvPr id="14" name="Text 12"/>
          <p:cNvSpPr/>
          <p:nvPr/>
        </p:nvSpPr>
        <p:spPr>
          <a:xfrm>
            <a:off x="8778240" y="3017520"/>
            <a:ext cx="2651760" cy="0"/>
          </a:xfrm>
          <a:prstGeom prst="rect">
            <a:avLst/>
          </a:prstGeom>
          <a:noFill/>
          <a:ln/>
        </p:spPr>
        <p:txBody>
          <a:bodyPr wrap="square" rtlCol="0" anchor="ctr"/>
          <a:lstStyle/>
          <a:p>
            <a:pPr algn="r" indent="0" marL="0">
              <a:buNone/>
            </a:pPr>
            <a:r>
              <a:rPr lang="en-US" sz="1500" b="1" dirty="0">
                <a:solidFill>
                  <a:srgbClr val="D6E865"/>
                </a:solidFill>
              </a:rPr>
              <a:t>£1,650–£2,200</a:t>
            </a:r>
            <a:endParaRPr lang="en-US" sz="1500" dirty="0"/>
          </a:p>
        </p:txBody>
      </p:sp>
      <p:sp>
        <p:nvSpPr>
          <p:cNvPr id="15" name="Text 13"/>
          <p:cNvSpPr/>
          <p:nvPr/>
        </p:nvSpPr>
        <p:spPr>
          <a:xfrm>
            <a:off x="731520" y="3703320"/>
            <a:ext cx="6035040" cy="0"/>
          </a:xfrm>
          <a:prstGeom prst="rect">
            <a:avLst/>
          </a:prstGeom>
          <a:noFill/>
          <a:ln/>
        </p:spPr>
        <p:txBody>
          <a:bodyPr wrap="square" rtlCol="0" anchor="ctr"/>
          <a:lstStyle/>
          <a:p>
            <a:pPr indent="0" marL="0">
              <a:buNone/>
            </a:pPr>
            <a:r>
              <a:rPr lang="en-US" sz="1250" b="1" dirty="0">
                <a:solidFill>
                  <a:srgbClr val="FFFFFF"/>
                </a:solidFill>
              </a:rPr>
              <a:t>Tone of voice (optional)</a:t>
            </a:r>
            <a:endParaRPr lang="en-US" sz="1250" dirty="0"/>
          </a:p>
        </p:txBody>
      </p:sp>
      <p:sp>
        <p:nvSpPr>
          <p:cNvPr id="16" name="Text 14"/>
          <p:cNvSpPr/>
          <p:nvPr/>
        </p:nvSpPr>
        <p:spPr>
          <a:xfrm>
            <a:off x="731520" y="3995928"/>
            <a:ext cx="6035040" cy="0"/>
          </a:xfrm>
          <a:prstGeom prst="rect">
            <a:avLst/>
          </a:prstGeom>
          <a:noFill/>
          <a:ln/>
        </p:spPr>
        <p:txBody>
          <a:bodyPr wrap="square" rtlCol="0" anchor="ctr"/>
          <a:lstStyle/>
          <a:p>
            <a:pPr indent="0" marL="0">
              <a:buNone/>
            </a:pPr>
            <a:r>
              <a:rPr lang="en-US" sz="900" dirty="0">
                <a:solidFill>
                  <a:srgbClr val="FFFFFF">
                    <a:alpha val="65000"/>
                  </a:srgbClr>
                </a:solidFill>
              </a:rPr>
              <a:t>Optional workstream. Virtual kick-off with our specialist tone-of-voice partner, guidelines document covering personality, vocabulary and examples, and a roll-out walkthrough for you both.</a:t>
            </a:r>
            <a:endParaRPr lang="en-US" sz="900" dirty="0"/>
          </a:p>
        </p:txBody>
      </p:sp>
      <p:sp>
        <p:nvSpPr>
          <p:cNvPr id="17" name="Text 15"/>
          <p:cNvSpPr/>
          <p:nvPr/>
        </p:nvSpPr>
        <p:spPr>
          <a:xfrm>
            <a:off x="8778240" y="3703320"/>
            <a:ext cx="2651760" cy="0"/>
          </a:xfrm>
          <a:prstGeom prst="rect">
            <a:avLst/>
          </a:prstGeom>
          <a:noFill/>
          <a:ln/>
        </p:spPr>
        <p:txBody>
          <a:bodyPr wrap="square" rtlCol="0" anchor="ctr"/>
          <a:lstStyle/>
          <a:p>
            <a:pPr algn="r" indent="0" marL="0">
              <a:buNone/>
            </a:pPr>
            <a:r>
              <a:rPr lang="en-US" sz="1500" b="1" dirty="0">
                <a:solidFill>
                  <a:srgbClr val="D6E865"/>
                </a:solidFill>
              </a:rPr>
              <a:t>£900–£1,100</a:t>
            </a:r>
            <a:endParaRPr lang="en-US" sz="1500" dirty="0"/>
          </a:p>
        </p:txBody>
      </p:sp>
      <p:sp>
        <p:nvSpPr>
          <p:cNvPr id="18" name="Text 16"/>
          <p:cNvSpPr/>
          <p:nvPr/>
        </p:nvSpPr>
        <p:spPr>
          <a:xfrm>
            <a:off x="731520" y="5532120"/>
            <a:ext cx="10698480" cy="320040"/>
          </a:xfrm>
          <a:prstGeom prst="rect">
            <a:avLst/>
          </a:prstGeom>
          <a:noFill/>
          <a:ln/>
        </p:spPr>
        <p:txBody>
          <a:bodyPr wrap="square" rtlCol="0" anchor="ctr"/>
          <a:lstStyle/>
          <a:p>
            <a:pPr indent="0" marL="0">
              <a:buNone/>
            </a:pPr>
            <a:r>
              <a:rPr lang="en-US" sz="1050" b="1" dirty="0">
                <a:solidFill>
                  <a:srgbClr val="D6E865"/>
                </a:solidFill>
              </a:rPr>
              <a:t>Payment terms: 50% of the total project fee on approval of this proposal, 50% on delivery of the final brand guidelines document.</a:t>
            </a:r>
            <a:endParaRPr lang="en-US" sz="1050" dirty="0"/>
          </a:p>
        </p:txBody>
      </p:sp>
      <p:sp>
        <p:nvSpPr>
          <p:cNvPr id="19" name="Text 17"/>
          <p:cNvSpPr/>
          <p:nvPr/>
        </p:nvSpPr>
        <p:spPr>
          <a:xfrm>
            <a:off x="731520" y="5897880"/>
            <a:ext cx="10698480" cy="457200"/>
          </a:xfrm>
          <a:prstGeom prst="rect">
            <a:avLst/>
          </a:prstGeom>
          <a:noFill/>
          <a:ln/>
        </p:spPr>
        <p:txBody>
          <a:bodyPr wrap="square" rtlCol="0" anchor="ctr"/>
          <a:lstStyle/>
          <a:p>
            <a:pPr indent="0" marL="0">
              <a:buNone/>
            </a:pPr>
            <a:r>
              <a:rPr lang="en-US" sz="850" i="1" dirty="0">
                <a:solidFill>
                  <a:srgbClr val="FFFFFF">
                    <a:alpha val="60000"/>
                  </a:srgbClr>
                </a:solidFill>
              </a:rPr>
              <a:t>All costs exclude VAT.  ·  Costs are based on our standard hourly rates and the scope described above; any material change to scope will be discussed and re-quoted before work continues.  ·  Travel to Totnes for the briefing session is charged at cost and is not included in the figures below — we'll confirm the exact amount before we visit.  ·  Where ranges are shown, the final figure depends on the number of review rounds and the complexity of feedback received.</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61C21"/>
        </a:solidFill>
      </p:bgPr>
    </p:bg>
    <p:spTree>
      <p:nvGrpSpPr>
        <p:cNvPr id="1" name=""/>
        <p:cNvGrpSpPr/>
        <p:nvPr/>
      </p:nvGrpSpPr>
      <p:grpSpPr>
        <a:xfrm>
          <a:off x="0" y="0"/>
          <a:ext cx="0" cy="0"/>
          <a:chOff x="0" y="0"/>
          <a:chExt cx="0" cy="0"/>
        </a:xfrm>
      </p:grpSpPr>
      <p:sp>
        <p:nvSpPr>
          <p:cNvPr id="2" name="Text 0"/>
          <p:cNvSpPr/>
          <p:nvPr/>
        </p:nvSpPr>
        <p:spPr>
          <a:xfrm>
            <a:off x="457200" y="6455664"/>
            <a:ext cx="8229600" cy="292608"/>
          </a:xfrm>
          <a:prstGeom prst="rect">
            <a:avLst/>
          </a:prstGeom>
          <a:noFill/>
          <a:ln/>
        </p:spPr>
        <p:txBody>
          <a:bodyPr wrap="square" rtlCol="0" anchor="ctr"/>
          <a:lstStyle/>
          <a:p>
            <a:pPr indent="0" marL="0">
              <a:buNone/>
            </a:pPr>
            <a:r>
              <a:rPr lang="en-US" sz="850" dirty="0">
                <a:solidFill>
                  <a:srgbClr val="FFFFFF">
                    <a:alpha val="45000"/>
                  </a:srgbClr>
                </a:solidFill>
              </a:rPr>
              <a:t>7 July 2026 · Zero Fluff Proposal</a:t>
            </a:r>
            <a:endParaRPr lang="en-US" sz="850" dirty="0"/>
          </a:p>
        </p:txBody>
      </p:sp>
      <p:sp>
        <p:nvSpPr>
          <p:cNvPr id="3" name="Text 1"/>
          <p:cNvSpPr/>
          <p:nvPr/>
        </p:nvSpPr>
        <p:spPr>
          <a:xfrm>
            <a:off x="9875520" y="6455664"/>
            <a:ext cx="1828800" cy="292608"/>
          </a:xfrm>
          <a:prstGeom prst="rect">
            <a:avLst/>
          </a:prstGeom>
          <a:noFill/>
          <a:ln/>
        </p:spPr>
        <p:txBody>
          <a:bodyPr wrap="square" rtlCol="0" anchor="ctr"/>
          <a:lstStyle/>
          <a:p>
            <a:pPr algn="r" indent="0" marL="0">
              <a:buNone/>
            </a:pPr>
            <a:r>
              <a:rPr lang="en-US" sz="850" b="1" dirty="0">
                <a:solidFill>
                  <a:srgbClr val="FFFFFF">
                    <a:alpha val="60000"/>
                  </a:srgbClr>
                </a:solidFill>
              </a:rPr>
              <a:t>Chalk &amp; Ward</a:t>
            </a:r>
            <a:endParaRPr lang="en-US" sz="850" dirty="0"/>
          </a:p>
        </p:txBody>
      </p:sp>
      <p:sp>
        <p:nvSpPr>
          <p:cNvPr id="4" name="Text 2"/>
          <p:cNvSpPr/>
          <p:nvPr/>
        </p:nvSpPr>
        <p:spPr>
          <a:xfrm>
            <a:off x="731520" y="411480"/>
            <a:ext cx="10058400" cy="320040"/>
          </a:xfrm>
          <a:prstGeom prst="rect">
            <a:avLst/>
          </a:prstGeom>
          <a:noFill/>
          <a:ln/>
        </p:spPr>
        <p:txBody>
          <a:bodyPr wrap="square" rtlCol="0" anchor="ctr"/>
          <a:lstStyle/>
          <a:p>
            <a:pPr indent="0" marL="0">
              <a:buNone/>
            </a:pPr>
            <a:r>
              <a:rPr lang="en-US" sz="1100" b="1" spc="400" kern="0" dirty="0">
                <a:solidFill>
                  <a:srgbClr val="D6E865"/>
                </a:solidFill>
              </a:rPr>
              <a:t>NEXT STEPS</a:t>
            </a:r>
            <a:endParaRPr lang="en-US" sz="1100" dirty="0"/>
          </a:p>
        </p:txBody>
      </p:sp>
      <p:sp>
        <p:nvSpPr>
          <p:cNvPr id="5" name="Text 3"/>
          <p:cNvSpPr/>
          <p:nvPr/>
        </p:nvSpPr>
        <p:spPr>
          <a:xfrm>
            <a:off x="731520" y="777240"/>
            <a:ext cx="10698480" cy="640080"/>
          </a:xfrm>
          <a:prstGeom prst="rect">
            <a:avLst/>
          </a:prstGeom>
          <a:noFill/>
          <a:ln/>
        </p:spPr>
        <p:txBody>
          <a:bodyPr wrap="square" rtlCol="0" anchor="ctr"/>
          <a:lstStyle/>
          <a:p>
            <a:pPr indent="0" marL="0">
              <a:buNone/>
            </a:pPr>
            <a:r>
              <a:rPr lang="en-US" sz="2600" b="1" dirty="0">
                <a:solidFill>
                  <a:srgbClr val="FFFFFF"/>
                </a:solidFill>
              </a:rPr>
              <a:t>Ready when you are</a:t>
            </a:r>
            <a:endParaRPr lang="en-US" sz="2600" dirty="0"/>
          </a:p>
        </p:txBody>
      </p:sp>
      <p:sp>
        <p:nvSpPr>
          <p:cNvPr id="6" name="Text 4"/>
          <p:cNvSpPr/>
          <p:nvPr/>
        </p:nvSpPr>
        <p:spPr>
          <a:xfrm>
            <a:off x="731520" y="1828800"/>
            <a:ext cx="457200" cy="0"/>
          </a:xfrm>
          <a:prstGeom prst="rect">
            <a:avLst/>
          </a:prstGeom>
          <a:noFill/>
          <a:ln/>
        </p:spPr>
        <p:txBody>
          <a:bodyPr wrap="square" rtlCol="0" anchor="ctr"/>
          <a:lstStyle/>
          <a:p>
            <a:pPr indent="0" marL="0">
              <a:buNone/>
            </a:pPr>
            <a:r>
              <a:rPr lang="en-US" sz="2000" b="1" dirty="0">
                <a:solidFill>
                  <a:srgbClr val="D6E865"/>
                </a:solidFill>
              </a:rPr>
              <a:t>1</a:t>
            </a:r>
            <a:endParaRPr lang="en-US" sz="2000" dirty="0"/>
          </a:p>
        </p:txBody>
      </p:sp>
      <p:sp>
        <p:nvSpPr>
          <p:cNvPr id="7" name="Text 5"/>
          <p:cNvSpPr/>
          <p:nvPr/>
        </p:nvSpPr>
        <p:spPr>
          <a:xfrm>
            <a:off x="1371600" y="1901952"/>
            <a:ext cx="10058400" cy="0"/>
          </a:xfrm>
          <a:prstGeom prst="rect">
            <a:avLst/>
          </a:prstGeom>
          <a:noFill/>
          <a:ln/>
        </p:spPr>
        <p:txBody>
          <a:bodyPr wrap="square" rtlCol="0" anchor="ctr"/>
          <a:lstStyle/>
          <a:p>
            <a:pPr indent="0" marL="0">
              <a:buNone/>
            </a:pPr>
            <a:r>
              <a:rPr lang="en-US" sz="1300" dirty="0">
                <a:solidFill>
                  <a:srgbClr val="FFFFFF"/>
                </a:solidFill>
              </a:rPr>
              <a:t>Accept this proposal — Let us know you're happy to proceed — digitally or by email — and we'll raise an invoice for the 50% deposit to get you into our schedule.</a:t>
            </a:r>
            <a:endParaRPr lang="en-US" sz="1300" dirty="0"/>
          </a:p>
        </p:txBody>
      </p:sp>
      <p:sp>
        <p:nvSpPr>
          <p:cNvPr id="8" name="Text 6"/>
          <p:cNvSpPr/>
          <p:nvPr/>
        </p:nvSpPr>
        <p:spPr>
          <a:xfrm>
            <a:off x="731520" y="2788920"/>
            <a:ext cx="457200" cy="0"/>
          </a:xfrm>
          <a:prstGeom prst="rect">
            <a:avLst/>
          </a:prstGeom>
          <a:noFill/>
          <a:ln/>
        </p:spPr>
        <p:txBody>
          <a:bodyPr wrap="square" rtlCol="0" anchor="ctr"/>
          <a:lstStyle/>
          <a:p>
            <a:pPr indent="0" marL="0">
              <a:buNone/>
            </a:pPr>
            <a:r>
              <a:rPr lang="en-US" sz="2000" b="1" dirty="0">
                <a:solidFill>
                  <a:srgbClr val="D6E865"/>
                </a:solidFill>
              </a:rPr>
              <a:t>2</a:t>
            </a:r>
            <a:endParaRPr lang="en-US" sz="2000" dirty="0"/>
          </a:p>
        </p:txBody>
      </p:sp>
      <p:sp>
        <p:nvSpPr>
          <p:cNvPr id="9" name="Text 7"/>
          <p:cNvSpPr/>
          <p:nvPr/>
        </p:nvSpPr>
        <p:spPr>
          <a:xfrm>
            <a:off x="1371600" y="2862072"/>
            <a:ext cx="10058400" cy="0"/>
          </a:xfrm>
          <a:prstGeom prst="rect">
            <a:avLst/>
          </a:prstGeom>
          <a:noFill/>
          <a:ln/>
        </p:spPr>
        <p:txBody>
          <a:bodyPr wrap="square" rtlCol="0" anchor="ctr"/>
          <a:lstStyle/>
          <a:p>
            <a:pPr indent="0" marL="0">
              <a:buNone/>
            </a:pPr>
            <a:r>
              <a:rPr lang="en-US" sz="1300" dirty="0">
                <a:solidFill>
                  <a:srgbClr val="FFFFFF"/>
                </a:solidFill>
              </a:rPr>
              <a:t>Book the briefing session in Totnes — Once the deposit is received, we'll agree a date for the half-day face-to-face visit so we can get properly under the skin of Zero Fluff before anything else happens.</a:t>
            </a:r>
            <a:endParaRPr lang="en-US" sz="1300" dirty="0"/>
          </a:p>
        </p:txBody>
      </p:sp>
      <p:sp>
        <p:nvSpPr>
          <p:cNvPr id="10" name="Text 8"/>
          <p:cNvSpPr/>
          <p:nvPr/>
        </p:nvSpPr>
        <p:spPr>
          <a:xfrm>
            <a:off x="731520" y="3749040"/>
            <a:ext cx="457200" cy="0"/>
          </a:xfrm>
          <a:prstGeom prst="rect">
            <a:avLst/>
          </a:prstGeom>
          <a:noFill/>
          <a:ln/>
        </p:spPr>
        <p:txBody>
          <a:bodyPr wrap="square" rtlCol="0" anchor="ctr"/>
          <a:lstStyle/>
          <a:p>
            <a:pPr indent="0" marL="0">
              <a:buNone/>
            </a:pPr>
            <a:r>
              <a:rPr lang="en-US" sz="2000" b="1" dirty="0">
                <a:solidFill>
                  <a:srgbClr val="D6E865"/>
                </a:solidFill>
              </a:rPr>
              <a:t>3</a:t>
            </a:r>
            <a:endParaRPr lang="en-US" sz="2000" dirty="0"/>
          </a:p>
        </p:txBody>
      </p:sp>
      <p:sp>
        <p:nvSpPr>
          <p:cNvPr id="11" name="Text 9"/>
          <p:cNvSpPr/>
          <p:nvPr/>
        </p:nvSpPr>
        <p:spPr>
          <a:xfrm>
            <a:off x="1371600" y="3822192"/>
            <a:ext cx="10058400" cy="0"/>
          </a:xfrm>
          <a:prstGeom prst="rect">
            <a:avLst/>
          </a:prstGeom>
          <a:noFill/>
          <a:ln/>
        </p:spPr>
        <p:txBody>
          <a:bodyPr wrap="square" rtlCol="0" anchor="ctr"/>
          <a:lstStyle/>
          <a:p>
            <a:pPr indent="0" marL="0">
              <a:buNone/>
            </a:pPr>
            <a:r>
              <a:rPr lang="en-US" sz="1300" dirty="0">
                <a:solidFill>
                  <a:srgbClr val="FFFFFF"/>
                </a:solidFill>
              </a:rPr>
              <a:t>Lock in the Core Values session date — At the briefing we'll agree a date for the full-day Core Values session at our Exeter office, which means both workstreams can run in quick succession and momentum is maintained.</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61C21"/>
        </a:solidFill>
      </p:bgPr>
    </p:bg>
    <p:spTree>
      <p:nvGrpSpPr>
        <p:cNvPr id="1" name=""/>
        <p:cNvGrpSpPr/>
        <p:nvPr/>
      </p:nvGrpSpPr>
      <p:grpSpPr>
        <a:xfrm>
          <a:off x="0" y="0"/>
          <a:ext cx="0" cy="0"/>
          <a:chOff x="0" y="0"/>
          <a:chExt cx="0" cy="0"/>
        </a:xfrm>
      </p:grpSpPr>
      <p:sp>
        <p:nvSpPr>
          <p:cNvPr id="2" name="Text 0"/>
          <p:cNvSpPr/>
          <p:nvPr/>
        </p:nvSpPr>
        <p:spPr>
          <a:xfrm>
            <a:off x="457200" y="6455664"/>
            <a:ext cx="8229600" cy="292608"/>
          </a:xfrm>
          <a:prstGeom prst="rect">
            <a:avLst/>
          </a:prstGeom>
          <a:noFill/>
          <a:ln/>
        </p:spPr>
        <p:txBody>
          <a:bodyPr wrap="square" rtlCol="0" anchor="ctr"/>
          <a:lstStyle/>
          <a:p>
            <a:pPr indent="0" marL="0">
              <a:buNone/>
            </a:pPr>
            <a:r>
              <a:rPr lang="en-US" sz="850" dirty="0">
                <a:solidFill>
                  <a:srgbClr val="FFFFFF">
                    <a:alpha val="45000"/>
                  </a:srgbClr>
                </a:solidFill>
              </a:rPr>
              <a:t>7 July 2026 · Zero Fluff Proposal</a:t>
            </a:r>
            <a:endParaRPr lang="en-US" sz="850" dirty="0"/>
          </a:p>
        </p:txBody>
      </p:sp>
      <p:sp>
        <p:nvSpPr>
          <p:cNvPr id="3" name="Text 1"/>
          <p:cNvSpPr/>
          <p:nvPr/>
        </p:nvSpPr>
        <p:spPr>
          <a:xfrm>
            <a:off x="9875520" y="6455664"/>
            <a:ext cx="1828800" cy="292608"/>
          </a:xfrm>
          <a:prstGeom prst="rect">
            <a:avLst/>
          </a:prstGeom>
          <a:noFill/>
          <a:ln/>
        </p:spPr>
        <p:txBody>
          <a:bodyPr wrap="square" rtlCol="0" anchor="ctr"/>
          <a:lstStyle/>
          <a:p>
            <a:pPr algn="r" indent="0" marL="0">
              <a:buNone/>
            </a:pPr>
            <a:r>
              <a:rPr lang="en-US" sz="850" b="1" dirty="0">
                <a:solidFill>
                  <a:srgbClr val="FFFFFF">
                    <a:alpha val="60000"/>
                  </a:srgbClr>
                </a:solidFill>
              </a:rPr>
              <a:t>Chalk &amp; Ward</a:t>
            </a:r>
            <a:endParaRPr lang="en-US" sz="850" dirty="0"/>
          </a:p>
        </p:txBody>
      </p:sp>
      <p:sp>
        <p:nvSpPr>
          <p:cNvPr id="4" name="Text 2"/>
          <p:cNvSpPr/>
          <p:nvPr/>
        </p:nvSpPr>
        <p:spPr>
          <a:xfrm>
            <a:off x="731520" y="2377440"/>
            <a:ext cx="7315200" cy="1097280"/>
          </a:xfrm>
          <a:prstGeom prst="rect">
            <a:avLst/>
          </a:prstGeom>
          <a:noFill/>
          <a:ln/>
        </p:spPr>
        <p:txBody>
          <a:bodyPr wrap="square" rtlCol="0" anchor="ctr"/>
          <a:lstStyle/>
          <a:p>
            <a:pPr indent="0" marL="0">
              <a:buNone/>
            </a:pPr>
            <a:r>
              <a:rPr lang="en-US" sz="4800" b="1" dirty="0">
                <a:solidFill>
                  <a:srgbClr val="FFFFFF"/>
                </a:solidFill>
              </a:rPr>
              <a:t>Thank you.</a:t>
            </a:r>
            <a:endParaRPr lang="en-US" sz="4800" dirty="0"/>
          </a:p>
        </p:txBody>
      </p:sp>
      <p:sp>
        <p:nvSpPr>
          <p:cNvPr id="5" name="Text 3"/>
          <p:cNvSpPr/>
          <p:nvPr/>
        </p:nvSpPr>
        <p:spPr>
          <a:xfrm>
            <a:off x="731520" y="3840480"/>
            <a:ext cx="9144000" cy="457200"/>
          </a:xfrm>
          <a:prstGeom prst="rect">
            <a:avLst/>
          </a:prstGeom>
          <a:noFill/>
          <a:ln/>
        </p:spPr>
        <p:txBody>
          <a:bodyPr wrap="square" rtlCol="0" anchor="ctr"/>
          <a:lstStyle/>
          <a:p>
            <a:pPr indent="0" marL="0">
              <a:buNone/>
            </a:pPr>
            <a:r>
              <a:rPr lang="en-US" sz="1200" dirty="0">
                <a:solidFill>
                  <a:srgbClr val="D6E865"/>
                </a:solidFill>
              </a:rPr>
              <a:t>hello@chalkandward.com · 01392 949 040 · chalkandward.com</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2026-07-07T15:00:53Z</dcterms:created>
  <dcterms:modified xsi:type="dcterms:W3CDTF">2026-07-07T15:00:53Z</dcterms:modified>
</cp:coreProperties>
</file>